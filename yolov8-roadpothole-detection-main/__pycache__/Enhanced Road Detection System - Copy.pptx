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69" r:id="rId5"/>
    <p:sldId id="270" r:id="rId6"/>
    <p:sldId id="271" r:id="rId7"/>
    <p:sldId id="272" r:id="rId8"/>
    <p:sldId id="273" r:id="rId9"/>
    <p:sldId id="274" r:id="rId10"/>
    <p:sldId id="278" r:id="rId11"/>
    <p:sldId id="279" r:id="rId12"/>
    <p:sldId id="275" r:id="rId13"/>
    <p:sldId id="296" r:id="rId14"/>
    <p:sldId id="297" r:id="rId15"/>
    <p:sldId id="276" r:id="rId16"/>
    <p:sldId id="282" r:id="rId17"/>
    <p:sldId id="284" r:id="rId18"/>
    <p:sldId id="283" r:id="rId19"/>
    <p:sldId id="285" r:id="rId20"/>
    <p:sldId id="286" r:id="rId21"/>
    <p:sldId id="287" r:id="rId22"/>
    <p:sldId id="288" r:id="rId23"/>
    <p:sldId id="289" r:id="rId24"/>
    <p:sldId id="280" r:id="rId25"/>
    <p:sldId id="290" r:id="rId26"/>
    <p:sldId id="291" r:id="rId27"/>
    <p:sldId id="281" r:id="rId28"/>
    <p:sldId id="292" r:id="rId29"/>
    <p:sldId id="294" r:id="rId30"/>
    <p:sldId id="295" r:id="rId31"/>
    <p:sldId id="2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311" autoAdjust="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30AFBF-DF29-477C-A2BC-D64D99F23BA9}"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74B4C-7799-40CA-8CE4-A53C8E981FAB}" type="slidenum">
              <a:rPr lang="en-IN" smtClean="0"/>
              <a:t>‹#›</a:t>
            </a:fld>
            <a:endParaRPr lang="en-IN"/>
          </a:p>
        </p:txBody>
      </p:sp>
    </p:spTree>
    <p:extLst>
      <p:ext uri="{BB962C8B-B14F-4D97-AF65-F5344CB8AC3E}">
        <p14:creationId xmlns:p14="http://schemas.microsoft.com/office/powerpoint/2010/main" val="4197148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1685-5EE9-B7A6-C50C-FD9B5C056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9FB17D-592A-399D-A371-41592FF8D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DC836E5-A40E-4C3B-1040-EA4AB796376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E9C00102-33CB-0754-7C3E-E9CDBB9014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F63DB9-40EE-BC76-A808-A9807E2D6D6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904247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A04D-9F3F-037D-F5B7-FA047EBB77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96D79B-917B-8471-AF47-659EA2766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4A218A-72C4-3FC5-021F-24A81DF5791B}"/>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FCB30FD6-2EC4-E3C5-4ADA-4B605EC41E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DFD641-D868-7C72-9E56-A19DE48E4CB6}"/>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4061733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9922-1698-0C8E-3D12-C605310A65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3DD5FA-46D7-D0CC-3648-C8E9A8AA40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FD9FF-7C1F-3B13-5D9B-43CF164C59B7}"/>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EC2857B2-D1EB-2008-5BF0-A2DF259E56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74D15A-ACDE-2848-7DD2-75294BD661D8}"/>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47652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7473-B4B1-538F-CE97-32603F4505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4CBC2A-E792-7F5A-1142-AE1B540ECB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7DD57A-0F20-1AE0-FF0B-8992BAB72D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DE4BBC-9B54-6AC4-E15B-0B66C03B3237}"/>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0E31510A-7A2B-BB4B-BC6E-51D34D0D0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3BEB23-A4D7-7AD8-FFE1-9DE6BBFA9631}"/>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128443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F6A1-206A-9187-A566-3FB358551B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A358A6-CCDF-86C9-F67D-7334F6F540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27B8C4-E9AA-FE44-B4BE-75F7FB59C6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46CB873-83EC-8352-261A-B3D0065F0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40F48-76A5-F7F4-A9D8-938B875521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33ABAD-99AA-E43A-80A7-B3AF04B5A365}"/>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8" name="Footer Placeholder 7">
            <a:extLst>
              <a:ext uri="{FF2B5EF4-FFF2-40B4-BE49-F238E27FC236}">
                <a16:creationId xmlns:a16="http://schemas.microsoft.com/office/drawing/2014/main" id="{1059ED95-B52D-6C28-B2DD-FB89A3188F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428ECA-1918-BB31-F801-333EC90FC35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61094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8554-F8AA-6196-92E7-BDC0EA01CF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5CDD7B-5003-A63E-70A0-0339EC20391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4" name="Footer Placeholder 3">
            <a:extLst>
              <a:ext uri="{FF2B5EF4-FFF2-40B4-BE49-F238E27FC236}">
                <a16:creationId xmlns:a16="http://schemas.microsoft.com/office/drawing/2014/main" id="{E1A37E5F-2945-D44E-A612-3A4B9F6559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0D5DA26-ED1A-189F-28E8-6AE8C0F1E375}"/>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273375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F065A-EE9B-2702-421E-50B7591D6996}"/>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3" name="Footer Placeholder 2">
            <a:extLst>
              <a:ext uri="{FF2B5EF4-FFF2-40B4-BE49-F238E27FC236}">
                <a16:creationId xmlns:a16="http://schemas.microsoft.com/office/drawing/2014/main" id="{8F41267D-F58D-15EC-DC2C-403BC4F121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A612A5-26A3-6173-06C0-6A3B730366CC}"/>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342976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281E1-84E4-81D2-2C5E-B6AD8BDA6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50B3E6-8579-1730-EC4C-ECB4FC9378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64168E-33D6-46FC-1E70-9E4EFC708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00B8A-3E3E-84D1-74E4-0BDA42BAAAC9}"/>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E24F6F3D-C77A-EE2E-1AF5-A8A6BAA087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F6DCEA-8CFA-BF96-ED1B-155AF1F3E694}"/>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39666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C134-A657-4DB2-6CDD-8718424844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0E7159-560F-1FE9-7252-64503714AA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4E7BE8-7FC6-7486-A29A-72542E674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F2FDF4-24BD-BED2-14B2-D26339E5BAB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6" name="Footer Placeholder 5">
            <a:extLst>
              <a:ext uri="{FF2B5EF4-FFF2-40B4-BE49-F238E27FC236}">
                <a16:creationId xmlns:a16="http://schemas.microsoft.com/office/drawing/2014/main" id="{188EB18F-35F8-E900-0844-81BA2F0D57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054F72-CF32-2DE0-0970-463060E07F5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229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698F-949F-731C-25C2-458D197B771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193EA2-CCA1-2FB7-BAB8-14952DF738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819B8-BF75-5547-A635-D3293E15D1F1}"/>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48074947-3F47-2699-8345-5608CDB79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86B26-1A2B-4B9A-97BC-3B98FAA3392B}"/>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83923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8150A4-8777-8C06-7C40-C0AF268E48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5C87FA-414E-4D79-DF42-97A5332365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DC22C9-02C7-EFEC-C203-12E98905DDAA}"/>
              </a:ext>
            </a:extLst>
          </p:cNvPr>
          <p:cNvSpPr>
            <a:spLocks noGrp="1"/>
          </p:cNvSpPr>
          <p:nvPr>
            <p:ph type="dt" sz="half" idx="10"/>
          </p:nvPr>
        </p:nvSpPr>
        <p:spPr/>
        <p:txBody>
          <a:body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790D9799-8C35-319F-2E47-5166AC4065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7709D1-625E-AACC-A717-0DE5D33FC3EF}"/>
              </a:ext>
            </a:extLst>
          </p:cNvPr>
          <p:cNvSpPr>
            <a:spLocks noGrp="1"/>
          </p:cNvSpPr>
          <p:nvPr>
            <p:ph type="sldNum" sz="quarter" idx="12"/>
          </p:nvPr>
        </p:nvSpPr>
        <p:spPr/>
        <p:txBody>
          <a:bodyPr/>
          <a:lstStyle/>
          <a:p>
            <a:fld id="{A83586F3-CB50-4C78-8679-D8060FD383AA}" type="slidenum">
              <a:rPr lang="en-IN" smtClean="0"/>
              <a:t>‹#›</a:t>
            </a:fld>
            <a:endParaRPr lang="en-IN"/>
          </a:p>
        </p:txBody>
      </p:sp>
    </p:spTree>
    <p:extLst>
      <p:ext uri="{BB962C8B-B14F-4D97-AF65-F5344CB8AC3E}">
        <p14:creationId xmlns:p14="http://schemas.microsoft.com/office/powerpoint/2010/main" val="531650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3AD38-AF6A-409E-8945-7FB43AF95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ADD449-6C90-1C1D-A262-33FD42DCCE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D8EBAB-2B7B-1ADF-3DF1-250B51E89B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0E246-1060-4E0C-90C8-6A690E459950}" type="datetimeFigureOut">
              <a:rPr lang="en-IN" smtClean="0"/>
              <a:t>05-04-2024</a:t>
            </a:fld>
            <a:endParaRPr lang="en-IN"/>
          </a:p>
        </p:txBody>
      </p:sp>
      <p:sp>
        <p:nvSpPr>
          <p:cNvPr id="5" name="Footer Placeholder 4">
            <a:extLst>
              <a:ext uri="{FF2B5EF4-FFF2-40B4-BE49-F238E27FC236}">
                <a16:creationId xmlns:a16="http://schemas.microsoft.com/office/drawing/2014/main" id="{DF818850-EF96-28AA-1659-C1AF28D2A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0957F8-7133-A363-FEAE-4FF0486D93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3586F3-CB50-4C78-8679-D8060FD383AA}" type="slidenum">
              <a:rPr lang="en-IN" smtClean="0"/>
              <a:t>‹#›</a:t>
            </a:fld>
            <a:endParaRPr lang="en-IN"/>
          </a:p>
        </p:txBody>
      </p:sp>
    </p:spTree>
    <p:extLst>
      <p:ext uri="{BB962C8B-B14F-4D97-AF65-F5344CB8AC3E}">
        <p14:creationId xmlns:p14="http://schemas.microsoft.com/office/powerpoint/2010/main" val="202215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s://pypi.org/project/moviepy/" TargetMode="External"/><Relationship Id="rId3" Type="http://schemas.openxmlformats.org/officeDocument/2006/relationships/hyperlink" Target="https://app.roboflow.com/shraddha-pansare-0hlpi/yolov8-ozdbl/settings" TargetMode="External"/><Relationship Id="rId7" Type="http://schemas.openxmlformats.org/officeDocument/2006/relationships/hyperlink" Target="https://ipython.readthedocs.io/en/stable/api/generated/IPython.display.html" TargetMode="External"/><Relationship Id="rId2" Type="http://schemas.openxmlformats.org/officeDocument/2006/relationships/hyperlink" Target="https://app.roboflow.com/potholesproject-afkvq/pothole_detection-lragw/settings" TargetMode="External"/><Relationship Id="rId1" Type="http://schemas.openxmlformats.org/officeDocument/2006/relationships/slideLayout" Target="../slideLayouts/slideLayout2.xml"/><Relationship Id="rId6" Type="http://schemas.openxmlformats.org/officeDocument/2006/relationships/hyperlink" Target="https://matplotlib.org/stable/api/image_api.html" TargetMode="External"/><Relationship Id="rId11" Type="http://schemas.openxmlformats.org/officeDocument/2006/relationships/hyperlink" Target="https://docs.python.org/3/library/tk.html" TargetMode="External"/><Relationship Id="rId5" Type="http://schemas.openxmlformats.org/officeDocument/2006/relationships/hyperlink" Target="https://numpy.org/doc/" TargetMode="External"/><Relationship Id="rId10" Type="http://schemas.openxmlformats.org/officeDocument/2006/relationships/hyperlink" Target="https://docs.python.org/3/library/glob.html" TargetMode="External"/><Relationship Id="rId4" Type="http://schemas.openxmlformats.org/officeDocument/2006/relationships/hyperlink" Target="https://docs.opencv.org/4.x/d6/d00/tutorial_py_root.html" TargetMode="External"/><Relationship Id="rId9" Type="http://schemas.openxmlformats.org/officeDocument/2006/relationships/hyperlink" Target="https://docs.opencv.org/4.x/dc/dbb/tutorial_py_calibra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7D5A-C525-66A4-3AD8-AD6E9D1E3BD0}"/>
              </a:ext>
            </a:extLst>
          </p:cNvPr>
          <p:cNvSpPr>
            <a:spLocks noGrp="1"/>
          </p:cNvSpPr>
          <p:nvPr>
            <p:ph type="ctrTitle"/>
          </p:nvPr>
        </p:nvSpPr>
        <p:spPr>
          <a:xfrm>
            <a:off x="1524000" y="1122363"/>
            <a:ext cx="9144000" cy="1507715"/>
          </a:xfrm>
        </p:spPr>
        <p:txBody>
          <a:bodyPr>
            <a:normAutofit/>
          </a:bodyPr>
          <a:lstStyle/>
          <a:p>
            <a:r>
              <a:rPr lang="en-IN" sz="4400" b="1" kern="100" dirty="0">
                <a:ln>
                  <a:noFill/>
                </a:ln>
                <a:solidFill>
                  <a:srgbClr val="000000"/>
                </a:solidFill>
                <a:effectLst>
                  <a:outerShdw blurRad="38100" dist="19050" dir="2700000" algn="tl">
                    <a:schemeClr val="dk1">
                      <a:alpha val="40000"/>
                    </a:schemeClr>
                  </a:outerShdw>
                </a:effectLst>
                <a:latin typeface="Arial" panose="020B0604020202020204" pitchFamily="34" charset="0"/>
                <a:ea typeface="Calibri" panose="020F0502020204030204" pitchFamily="34" charset="0"/>
                <a:cs typeface="Arial" panose="020B0604020202020204" pitchFamily="34" charset="0"/>
              </a:rPr>
              <a:t>Enhanced Road Detection System</a:t>
            </a:r>
            <a:endParaRPr lang="en-IN" sz="44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1E0E121-3BC3-8F99-1B80-71B25E9AF397}"/>
              </a:ext>
            </a:extLst>
          </p:cNvPr>
          <p:cNvSpPr>
            <a:spLocks noGrp="1"/>
          </p:cNvSpPr>
          <p:nvPr>
            <p:ph type="subTitle" idx="1"/>
          </p:nvPr>
        </p:nvSpPr>
        <p:spPr>
          <a:xfrm>
            <a:off x="1524000" y="3657600"/>
            <a:ext cx="9144000" cy="2224726"/>
          </a:xfrm>
        </p:spPr>
        <p:txBody>
          <a:bodyPr>
            <a:normAutofit/>
          </a:bodyPr>
          <a:lstStyle/>
          <a:p>
            <a:pPr algn="ctr">
              <a:lnSpc>
                <a:spcPct val="107000"/>
              </a:lnSpc>
              <a:spcAft>
                <a:spcPts val="800"/>
              </a:spcAft>
            </a:pPr>
            <a:r>
              <a:rPr lang="en-IN" b="1" kern="100" dirty="0">
                <a:effectLst/>
                <a:latin typeface="Arial" panose="020B0604020202020204" pitchFamily="34" charset="0"/>
                <a:ea typeface="Calibri" panose="020F0502020204030204" pitchFamily="34" charset="0"/>
                <a:cs typeface="Arial" panose="020B0604020202020204" pitchFamily="34" charset="0"/>
              </a:rPr>
              <a:t>Department of 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b="1" kern="100" dirty="0" err="1">
                <a:effectLst/>
                <a:latin typeface="Arial" panose="020B0604020202020204" pitchFamily="34" charset="0"/>
                <a:ea typeface="Calibri" panose="020F0502020204030204" pitchFamily="34" charset="0"/>
                <a:cs typeface="Arial" panose="020B0604020202020204" pitchFamily="34" charset="0"/>
              </a:rPr>
              <a:t>T.Y.B.Sc</a:t>
            </a:r>
            <a:r>
              <a:rPr lang="en-IN" b="1" kern="100" dirty="0">
                <a:effectLst/>
                <a:latin typeface="Arial" panose="020B0604020202020204" pitchFamily="34" charset="0"/>
                <a:ea typeface="Calibri" panose="020F0502020204030204" pitchFamily="34" charset="0"/>
                <a:cs typeface="Arial" panose="020B0604020202020204" pitchFamily="34" charset="0"/>
              </a:rPr>
              <a:t>.(Computer Science)</a:t>
            </a:r>
            <a:endParaRPr lang="en-IN" kern="1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Sir </a:t>
            </a:r>
            <a:r>
              <a:rPr lang="en-IN" sz="1600" kern="100" dirty="0" err="1">
                <a:effectLst/>
                <a:latin typeface="Arial" panose="020B0604020202020204" pitchFamily="34" charset="0"/>
                <a:ea typeface="Calibri" panose="020F0502020204030204" pitchFamily="34" charset="0"/>
                <a:cs typeface="Arial" panose="020B0604020202020204" pitchFamily="34" charset="0"/>
              </a:rPr>
              <a:t>Parashurambhau</a:t>
            </a:r>
            <a:r>
              <a:rPr lang="en-IN" sz="1600" kern="100" dirty="0">
                <a:effectLst/>
                <a:latin typeface="Arial" panose="020B0604020202020204" pitchFamily="34" charset="0"/>
                <a:ea typeface="Calibri" panose="020F0502020204030204" pitchFamily="34" charset="0"/>
                <a:cs typeface="Arial" panose="020B0604020202020204" pitchFamily="34" charset="0"/>
              </a:rPr>
              <a:t> College (Autonomous) Pune,</a:t>
            </a:r>
          </a:p>
          <a:p>
            <a:pPr algn="ctr">
              <a:lnSpc>
                <a:spcPct val="107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2023-24</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6679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20E6380-7E1D-100B-9BC1-77A73738B1AE}"/>
              </a:ext>
            </a:extLst>
          </p:cNvPr>
          <p:cNvSpPr txBox="1">
            <a:spLocks/>
          </p:cNvSpPr>
          <p:nvPr/>
        </p:nvSpPr>
        <p:spPr>
          <a:xfrm>
            <a:off x="990600" y="1415592"/>
            <a:ext cx="10515600" cy="49137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latin typeface="Arial" panose="020B0604020202020204" pitchFamily="34" charset="0"/>
                <a:cs typeface="Arial" panose="020B0604020202020204" pitchFamily="34" charset="0"/>
              </a:rPr>
              <a:t>Project Team –</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Project Guide -</a:t>
            </a:r>
          </a:p>
          <a:p>
            <a:pPr marL="0" indent="0">
              <a:buNone/>
            </a:pPr>
            <a:r>
              <a:rPr lang="en-IN" dirty="0">
                <a:latin typeface="Arial" panose="020B0604020202020204" pitchFamily="34" charset="0"/>
                <a:cs typeface="Arial" panose="020B0604020202020204" pitchFamily="34" charset="0"/>
              </a:rPr>
              <a:t>   Mrs. Renuka Lakhangaonkar</a:t>
            </a:r>
          </a:p>
        </p:txBody>
      </p:sp>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dirty="0">
                <a:latin typeface="Arial" panose="020B0604020202020204" pitchFamily="34" charset="0"/>
                <a:cs typeface="Arial" panose="020B0604020202020204" pitchFamily="34" charset="0"/>
              </a:rPr>
              <a:t>Project Group Members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6272137" y="4553146"/>
            <a:ext cx="10515600" cy="3058262"/>
          </a:xfrm>
        </p:spPr>
        <p:txBody>
          <a:bodyPr>
            <a:normAutofit/>
          </a:bodyPr>
          <a:lstStyle/>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99053A5A-46BC-A1FD-BA89-C8FD3FF522F5}"/>
              </a:ext>
            </a:extLst>
          </p:cNvPr>
          <p:cNvGraphicFramePr>
            <a:graphicFrameLocks noGrp="1"/>
          </p:cNvGraphicFramePr>
          <p:nvPr>
            <p:extLst>
              <p:ext uri="{D42A27DB-BD31-4B8C-83A1-F6EECF244321}">
                <p14:modId xmlns:p14="http://schemas.microsoft.com/office/powerpoint/2010/main" val="2258162569"/>
              </p:ext>
            </p:extLst>
          </p:nvPr>
        </p:nvGraphicFramePr>
        <p:xfrm>
          <a:off x="1234911" y="2119877"/>
          <a:ext cx="10074452" cy="1483360"/>
        </p:xfrm>
        <a:graphic>
          <a:graphicData uri="http://schemas.openxmlformats.org/drawingml/2006/table">
            <a:tbl>
              <a:tblPr firstRow="1" bandRow="1">
                <a:tableStyleId>{5940675A-B579-460E-94D1-54222C63F5DA}</a:tableStyleId>
              </a:tblPr>
              <a:tblGrid>
                <a:gridCol w="855980">
                  <a:extLst>
                    <a:ext uri="{9D8B030D-6E8A-4147-A177-3AD203B41FA5}">
                      <a16:colId xmlns:a16="http://schemas.microsoft.com/office/drawing/2014/main" val="2467737999"/>
                    </a:ext>
                  </a:extLst>
                </a:gridCol>
                <a:gridCol w="2151380">
                  <a:extLst>
                    <a:ext uri="{9D8B030D-6E8A-4147-A177-3AD203B41FA5}">
                      <a16:colId xmlns:a16="http://schemas.microsoft.com/office/drawing/2014/main" val="2331968709"/>
                    </a:ext>
                  </a:extLst>
                </a:gridCol>
                <a:gridCol w="1605280">
                  <a:extLst>
                    <a:ext uri="{9D8B030D-6E8A-4147-A177-3AD203B41FA5}">
                      <a16:colId xmlns:a16="http://schemas.microsoft.com/office/drawing/2014/main" val="4191177759"/>
                    </a:ext>
                  </a:extLst>
                </a:gridCol>
                <a:gridCol w="1592580">
                  <a:extLst>
                    <a:ext uri="{9D8B030D-6E8A-4147-A177-3AD203B41FA5}">
                      <a16:colId xmlns:a16="http://schemas.microsoft.com/office/drawing/2014/main" val="1362118600"/>
                    </a:ext>
                  </a:extLst>
                </a:gridCol>
                <a:gridCol w="3869232">
                  <a:extLst>
                    <a:ext uri="{9D8B030D-6E8A-4147-A177-3AD203B41FA5}">
                      <a16:colId xmlns:a16="http://schemas.microsoft.com/office/drawing/2014/main" val="2928808221"/>
                    </a:ext>
                  </a:extLst>
                </a:gridCol>
              </a:tblGrid>
              <a:tr h="370840">
                <a:tc>
                  <a:txBody>
                    <a:bodyPr/>
                    <a:lstStyle/>
                    <a:p>
                      <a:pPr algn="ctr"/>
                      <a:r>
                        <a:rPr lang="en-IN" b="1" dirty="0">
                          <a:latin typeface="Arial" panose="020B0604020202020204" pitchFamily="34" charset="0"/>
                          <a:cs typeface="Arial" panose="020B0604020202020204" pitchFamily="34" charset="0"/>
                        </a:rPr>
                        <a:t>Sr No</a:t>
                      </a:r>
                    </a:p>
                  </a:txBody>
                  <a:tcPr/>
                </a:tc>
                <a:tc>
                  <a:txBody>
                    <a:bodyPr/>
                    <a:lstStyle/>
                    <a:p>
                      <a:r>
                        <a:rPr lang="en-IN" b="1" dirty="0">
                          <a:latin typeface="Arial" panose="020B0604020202020204" pitchFamily="34" charset="0"/>
                          <a:cs typeface="Arial" panose="020B0604020202020204" pitchFamily="34" charset="0"/>
                        </a:rPr>
                        <a:t>Name</a:t>
                      </a:r>
                    </a:p>
                  </a:txBody>
                  <a:tcPr/>
                </a:tc>
                <a:tc>
                  <a:txBody>
                    <a:bodyPr/>
                    <a:lstStyle/>
                    <a:p>
                      <a:r>
                        <a:rPr lang="en-IN" b="1" dirty="0">
                          <a:latin typeface="Arial" panose="020B0604020202020204" pitchFamily="34" charset="0"/>
                          <a:cs typeface="Arial" panose="020B0604020202020204" pitchFamily="34" charset="0"/>
                        </a:rPr>
                        <a:t>Roll Number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latin typeface="Arial" panose="020B0604020202020204" pitchFamily="34" charset="0"/>
                          <a:cs typeface="Arial" panose="020B0604020202020204" pitchFamily="34" charset="0"/>
                        </a:rPr>
                        <a:t>Seat Number</a:t>
                      </a:r>
                    </a:p>
                  </a:txBody>
                  <a:tcPr/>
                </a:tc>
                <a:tc>
                  <a:txBody>
                    <a:bodyPr/>
                    <a:lstStyle/>
                    <a:p>
                      <a:r>
                        <a:rPr lang="en-IN" b="1" dirty="0">
                          <a:latin typeface="Arial" panose="020B0604020202020204" pitchFamily="34" charset="0"/>
                          <a:cs typeface="Arial" panose="020B0604020202020204" pitchFamily="34" charset="0"/>
                        </a:rPr>
                        <a:t>Role</a:t>
                      </a:r>
                    </a:p>
                  </a:txBody>
                  <a:tcPr/>
                </a:tc>
                <a:extLst>
                  <a:ext uri="{0D108BD9-81ED-4DB2-BD59-A6C34878D82A}">
                    <a16:rowId xmlns:a16="http://schemas.microsoft.com/office/drawing/2014/main" val="980608550"/>
                  </a:ext>
                </a:extLst>
              </a:tr>
              <a:tr h="370840">
                <a:tc>
                  <a:txBody>
                    <a:bodyPr/>
                    <a:lstStyle/>
                    <a:p>
                      <a:pPr algn="ctr"/>
                      <a:r>
                        <a:rPr lang="en-IN" dirty="0">
                          <a:latin typeface="Arial" panose="020B0604020202020204" pitchFamily="34" charset="0"/>
                          <a:cs typeface="Arial" panose="020B0604020202020204" pitchFamily="34" charset="0"/>
                        </a:rPr>
                        <a:t>1</a:t>
                      </a:r>
                    </a:p>
                  </a:txBody>
                  <a:tcPr/>
                </a:tc>
                <a:tc>
                  <a:txBody>
                    <a:bodyPr/>
                    <a:lstStyle/>
                    <a:p>
                      <a:r>
                        <a:rPr lang="en-IN" dirty="0">
                          <a:latin typeface="Arial" panose="020B0604020202020204" pitchFamily="34" charset="0"/>
                          <a:cs typeface="Arial" panose="020B0604020202020204" pitchFamily="34" charset="0"/>
                        </a:rPr>
                        <a:t>Saniya Salunkhe</a:t>
                      </a:r>
                    </a:p>
                  </a:txBody>
                  <a:tcPr/>
                </a:tc>
                <a:tc>
                  <a:txBody>
                    <a:bodyPr/>
                    <a:lstStyle/>
                    <a:p>
                      <a:r>
                        <a:rPr lang="en-IN" sz="1800" dirty="0">
                          <a:latin typeface="Arial" panose="020B0604020202020204" pitchFamily="34" charset="0"/>
                          <a:cs typeface="Arial" panose="020B0604020202020204" pitchFamily="34" charset="0"/>
                        </a:rPr>
                        <a:t>4210115</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SP04210115</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Lane Detection</a:t>
                      </a:r>
                    </a:p>
                  </a:txBody>
                  <a:tcPr/>
                </a:tc>
                <a:extLst>
                  <a:ext uri="{0D108BD9-81ED-4DB2-BD59-A6C34878D82A}">
                    <a16:rowId xmlns:a16="http://schemas.microsoft.com/office/drawing/2014/main" val="257691632"/>
                  </a:ext>
                </a:extLst>
              </a:tr>
              <a:tr h="370840">
                <a:tc>
                  <a:txBody>
                    <a:bodyPr/>
                    <a:lstStyle/>
                    <a:p>
                      <a:pPr algn="ctr"/>
                      <a:r>
                        <a:rPr lang="en-IN"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Arial" panose="020B0604020202020204" pitchFamily="34" charset="0"/>
                          <a:cs typeface="Arial" panose="020B0604020202020204" pitchFamily="34" charset="0"/>
                        </a:rPr>
                        <a:t>Divya Pansare</a:t>
                      </a:r>
                    </a:p>
                  </a:txBody>
                  <a:tcPr/>
                </a:tc>
                <a:tc>
                  <a:txBody>
                    <a:bodyPr/>
                    <a:lstStyle/>
                    <a:p>
                      <a:r>
                        <a:rPr lang="en-IN" sz="1800" dirty="0">
                          <a:latin typeface="Arial" panose="020B0604020202020204" pitchFamily="34" charset="0"/>
                          <a:cs typeface="Arial" panose="020B0604020202020204" pitchFamily="34" charset="0"/>
                        </a:rPr>
                        <a:t>4210090</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SP04210090</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Pothole Detection</a:t>
                      </a:r>
                    </a:p>
                  </a:txBody>
                  <a:tcPr/>
                </a:tc>
                <a:extLst>
                  <a:ext uri="{0D108BD9-81ED-4DB2-BD59-A6C34878D82A}">
                    <a16:rowId xmlns:a16="http://schemas.microsoft.com/office/drawing/2014/main" val="2313444110"/>
                  </a:ext>
                </a:extLst>
              </a:tr>
              <a:tr h="370840">
                <a:tc>
                  <a:txBody>
                    <a:bodyPr/>
                    <a:lstStyle/>
                    <a:p>
                      <a:pPr algn="ctr"/>
                      <a:r>
                        <a:rPr lang="en-IN" dirty="0">
                          <a:latin typeface="Arial" panose="020B0604020202020204" pitchFamily="34" charset="0"/>
                          <a:cs typeface="Arial" panose="020B0604020202020204" pitchFamily="34" charset="0"/>
                        </a:rPr>
                        <a:t>3</a:t>
                      </a:r>
                    </a:p>
                  </a:txBody>
                  <a:tcPr/>
                </a:tc>
                <a:tc>
                  <a:txBody>
                    <a:bodyPr/>
                    <a:lstStyle/>
                    <a:p>
                      <a:r>
                        <a:rPr lang="en-IN" sz="1800" dirty="0">
                          <a:latin typeface="Arial" panose="020B0604020202020204" pitchFamily="34" charset="0"/>
                          <a:cs typeface="Arial" panose="020B0604020202020204" pitchFamily="34" charset="0"/>
                        </a:rPr>
                        <a:t>Shraddha Pansare</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4210092</a:t>
                      </a:r>
                      <a:endParaRPr lang="en-IN" dirty="0">
                        <a:latin typeface="Arial" panose="020B0604020202020204" pitchFamily="34" charset="0"/>
                        <a:cs typeface="Arial" panose="020B0604020202020204" pitchFamily="34" charset="0"/>
                      </a:endParaRPr>
                    </a:p>
                  </a:txBody>
                  <a:tcPr/>
                </a:tc>
                <a:tc>
                  <a:txBody>
                    <a:bodyPr/>
                    <a:lstStyle/>
                    <a:p>
                      <a:r>
                        <a:rPr lang="en-IN" sz="1800" dirty="0">
                          <a:latin typeface="Arial" panose="020B0604020202020204" pitchFamily="34" charset="0"/>
                          <a:cs typeface="Arial" panose="020B0604020202020204" pitchFamily="34" charset="0"/>
                        </a:rPr>
                        <a:t>SP04210092</a:t>
                      </a:r>
                      <a:endParaRPr lang="en-IN" dirty="0">
                        <a:latin typeface="Arial" panose="020B0604020202020204" pitchFamily="34" charset="0"/>
                        <a:cs typeface="Arial" panose="020B0604020202020204" pitchFamily="34" charset="0"/>
                      </a:endParaRPr>
                    </a:p>
                  </a:txBody>
                  <a:tcPr/>
                </a:tc>
                <a:tc>
                  <a:txBody>
                    <a:bodyPr/>
                    <a:lstStyle/>
                    <a:p>
                      <a:r>
                        <a:rPr lang="en-IN" dirty="0">
                          <a:latin typeface="Arial" panose="020B0604020202020204" pitchFamily="34" charset="0"/>
                          <a:cs typeface="Arial" panose="020B0604020202020204" pitchFamily="34" charset="0"/>
                        </a:rPr>
                        <a:t>Zebra &amp; Signal Detection</a:t>
                      </a:r>
                    </a:p>
                  </a:txBody>
                  <a:tcPr/>
                </a:tc>
                <a:extLst>
                  <a:ext uri="{0D108BD9-81ED-4DB2-BD59-A6C34878D82A}">
                    <a16:rowId xmlns:a16="http://schemas.microsoft.com/office/drawing/2014/main" val="479273117"/>
                  </a:ext>
                </a:extLst>
              </a:tr>
            </a:tbl>
          </a:graphicData>
        </a:graphic>
      </p:graphicFrame>
    </p:spTree>
    <p:extLst>
      <p:ext uri="{BB962C8B-B14F-4D97-AF65-F5344CB8AC3E}">
        <p14:creationId xmlns:p14="http://schemas.microsoft.com/office/powerpoint/2010/main" val="416927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Enhanced Road Detection is a big step forward for making roads safer and managing traffic better. With today's roads getting more complicated and crowded, there's a growing need for smart systems to spot things on the road. </a:t>
            </a:r>
          </a:p>
          <a:p>
            <a:pPr>
              <a:spcBef>
                <a:spcPts val="600"/>
              </a:spcBef>
              <a:spcAft>
                <a:spcPts val="600"/>
              </a:spcAft>
            </a:pPr>
            <a:r>
              <a:rPr lang="en-US" sz="2200" dirty="0">
                <a:latin typeface="Arial" panose="020B0604020202020204" pitchFamily="34" charset="0"/>
                <a:cs typeface="Arial" panose="020B0604020202020204" pitchFamily="34" charset="0"/>
              </a:rPr>
              <a:t> At its core, this system utilizes sophisticated computer vision techniques like object detection and image analysis, leveraging YOLO for real-time detection of road features, thereby enhancing driving safety. </a:t>
            </a:r>
          </a:p>
          <a:p>
            <a:pPr>
              <a:spcBef>
                <a:spcPts val="600"/>
              </a:spcBef>
              <a:spcAft>
                <a:spcPts val="600"/>
              </a:spcAft>
            </a:pPr>
            <a:r>
              <a:rPr lang="en-US" sz="2200" dirty="0">
                <a:latin typeface="Arial" panose="020B0604020202020204" pitchFamily="34" charset="0"/>
                <a:cs typeface="Arial" panose="020B0604020202020204" pitchFamily="34" charset="0"/>
              </a:rPr>
              <a:t>It's main job is to find lane lines and keep cars in their lanes to prevent accidents. It also looks out for dangers like potholes and warns drivers about them early to avoid accidents. </a:t>
            </a:r>
          </a:p>
          <a:p>
            <a:pPr>
              <a:spcBef>
                <a:spcPts val="600"/>
              </a:spcBef>
              <a:spcAft>
                <a:spcPts val="600"/>
              </a:spcAft>
            </a:pPr>
            <a:r>
              <a:rPr lang="en-US" sz="2200" dirty="0">
                <a:latin typeface="Arial" panose="020B0604020202020204" pitchFamily="34" charset="0"/>
                <a:cs typeface="Arial" panose="020B0604020202020204" pitchFamily="34" charset="0"/>
              </a:rPr>
              <a:t>Also, it's smart enough to spot crossings and traffic lights, making intersections safer. Though it may not be perfect all the time, it tries its best to find important things on the road, making driving safer and smoother for everyone.</a:t>
            </a:r>
            <a:endParaRPr lang="en-IN"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288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Team Member’s Role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458118"/>
          </a:xfrm>
        </p:spPr>
        <p:txBody>
          <a:bodyPr>
            <a:normAutofit fontScale="70000" lnSpcReduction="20000"/>
          </a:bodyPr>
          <a:lstStyle/>
          <a:p>
            <a:pPr>
              <a:spcBef>
                <a:spcPts val="600"/>
              </a:spcBef>
              <a:spcAft>
                <a:spcPts val="600"/>
              </a:spcAft>
            </a:pPr>
            <a:r>
              <a:rPr lang="en-US" sz="2900" b="1" dirty="0">
                <a:latin typeface="Arial" panose="020B0604020202020204" pitchFamily="34" charset="0"/>
                <a:cs typeface="Arial" panose="020B0604020202020204" pitchFamily="34" charset="0"/>
              </a:rPr>
              <a:t>Saniya </a:t>
            </a:r>
            <a:r>
              <a:rPr lang="en-US" sz="2900" b="1" dirty="0" err="1">
                <a:latin typeface="Arial" panose="020B0604020202020204" pitchFamily="34" charset="0"/>
                <a:cs typeface="Arial" panose="020B0604020202020204" pitchFamily="34" charset="0"/>
              </a:rPr>
              <a:t>Salunkhe</a:t>
            </a:r>
            <a:r>
              <a:rPr lang="en-US" sz="2900" b="1" dirty="0">
                <a:latin typeface="Arial" panose="020B0604020202020204" pitchFamily="34" charset="0"/>
                <a:cs typeface="Arial" panose="020B0604020202020204" pitchFamily="34" charset="0"/>
              </a:rPr>
              <a:t> - Lane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 spearheaded the development of our lane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Saniya's role involves utilizing computer vision algorithms to detect lane markings in input videos.</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implements lane departure warnings and assists in lane maintenance to enhance driving safety.</a:t>
            </a: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Divya Pansare -</a:t>
            </a:r>
            <a:r>
              <a:rPr lang="en-US" sz="2900" b="1" dirty="0">
                <a:latin typeface="Arial" panose="020B0604020202020204" pitchFamily="34" charset="0"/>
                <a:cs typeface="Arial" panose="020B0604020202020204" pitchFamily="34" charset="0"/>
              </a:rPr>
              <a:t> Pothole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 led the efforts in pothole detection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detect and alert drivers about potential potholes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Divya's work contributes to proactive measures (by capturing the images), preventing vehicle damage and improving overall road safety.</a:t>
            </a:r>
            <a:endParaRPr lang="en-IN" sz="2100" dirty="0">
              <a:latin typeface="Arial" panose="020B0604020202020204" pitchFamily="34" charset="0"/>
              <a:cs typeface="Arial" panose="020B0604020202020204" pitchFamily="34" charset="0"/>
            </a:endParaRPr>
          </a:p>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IN" sz="2900" b="1" dirty="0">
                <a:latin typeface="Arial" panose="020B0604020202020204" pitchFamily="34" charset="0"/>
                <a:cs typeface="Arial" panose="020B0604020202020204" pitchFamily="34" charset="0"/>
              </a:rPr>
              <a:t>Shraddha Pansare -</a:t>
            </a:r>
            <a:r>
              <a:rPr lang="en-US" sz="2900" b="1" dirty="0">
                <a:latin typeface="Arial" panose="020B0604020202020204" pitchFamily="34" charset="0"/>
                <a:cs typeface="Arial" panose="020B0604020202020204" pitchFamily="34" charset="0"/>
              </a:rPr>
              <a:t> Zebra and Traffic Signal Detection</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 developed zebra crossings and traffic signals identification system.</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She utilized YOLO to recognize zebra crossings and traffic signals on the road.</a:t>
            </a:r>
          </a:p>
          <a:p>
            <a:pPr lvl="1">
              <a:lnSpc>
                <a:spcPct val="120000"/>
              </a:lnSpc>
              <a:spcBef>
                <a:spcPts val="600"/>
              </a:spcBef>
              <a:spcAft>
                <a:spcPts val="600"/>
              </a:spcAft>
            </a:pPr>
            <a:r>
              <a:rPr lang="en-US" sz="2100" dirty="0">
                <a:latin typeface="Arial" panose="020B0604020202020204" pitchFamily="34" charset="0"/>
                <a:cs typeface="Arial" panose="020B0604020202020204" pitchFamily="34" charset="0"/>
              </a:rPr>
              <a:t>Shradha's work ensures timely alerts to drivers, enhancing safety at intersections.</a:t>
            </a:r>
          </a:p>
        </p:txBody>
      </p:sp>
    </p:spTree>
    <p:extLst>
      <p:ext uri="{BB962C8B-B14F-4D97-AF65-F5344CB8AC3E}">
        <p14:creationId xmlns:p14="http://schemas.microsoft.com/office/powerpoint/2010/main" val="4222913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Technology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Python is utilized for development, providing flexibility, ease of use, and a wide range of libraries for various tasks.</a:t>
            </a:r>
          </a:p>
          <a:p>
            <a:pPr>
              <a:spcBef>
                <a:spcPts val="600"/>
              </a:spcBef>
              <a:spcAft>
                <a:spcPts val="600"/>
              </a:spcAft>
            </a:pPr>
            <a:r>
              <a:rPr lang="en-US" sz="2200" dirty="0">
                <a:latin typeface="Arial" panose="020B0604020202020204" pitchFamily="34" charset="0"/>
                <a:cs typeface="Arial" panose="020B0604020202020204" pitchFamily="34" charset="0"/>
              </a:rPr>
              <a:t>Computer vision libraries/frameworks like OpenCV are utilized for image processing tasks, while YOLO is employed for machine learning tasks.</a:t>
            </a:r>
          </a:p>
          <a:p>
            <a:pPr>
              <a:spcBef>
                <a:spcPts val="600"/>
              </a:spcBef>
              <a:spcAft>
                <a:spcPts val="600"/>
              </a:spcAft>
            </a:pPr>
            <a:r>
              <a:rPr lang="en-US" sz="2200" dirty="0">
                <a:latin typeface="Arial" panose="020B0604020202020204" pitchFamily="34" charset="0"/>
                <a:cs typeface="Arial" panose="020B0604020202020204" pitchFamily="34" charset="0"/>
              </a:rPr>
              <a:t>PostgreSQL is implemented as the database management system for storing pothole data, ensuring efficient data management and retrieval for further analysis.</a:t>
            </a:r>
          </a:p>
          <a:p>
            <a:pPr>
              <a:spcBef>
                <a:spcPts val="600"/>
              </a:spcBef>
              <a:spcAft>
                <a:spcPts val="600"/>
              </a:spcAft>
            </a:pPr>
            <a:r>
              <a:rPr lang="en-US" sz="2200" dirty="0">
                <a:latin typeface="Arial" panose="020B0604020202020204" pitchFamily="34" charset="0"/>
                <a:cs typeface="Arial" panose="020B0604020202020204" pitchFamily="34" charset="0"/>
              </a:rPr>
              <a:t>Libraries such as FFmpeg are used for video processing to handle video streams effectively.</a:t>
            </a:r>
          </a:p>
          <a:p>
            <a:pPr>
              <a:spcBef>
                <a:spcPts val="600"/>
              </a:spcBef>
              <a:spcAft>
                <a:spcPts val="600"/>
              </a:spcAft>
            </a:pPr>
            <a:r>
              <a:rPr lang="en-US" sz="2200" dirty="0">
                <a:latin typeface="Arial" panose="020B0604020202020204" pitchFamily="34" charset="0"/>
                <a:cs typeface="Arial" panose="020B0604020202020204" pitchFamily="34" charset="0"/>
              </a:rPr>
              <a:t>A GUI framework like Tkinter is implemented for user interaction and visualization of detection results, enhancing user experience and usability.</a:t>
            </a:r>
          </a:p>
        </p:txBody>
      </p:sp>
    </p:spTree>
    <p:extLst>
      <p:ext uri="{BB962C8B-B14F-4D97-AF65-F5344CB8AC3E}">
        <p14:creationId xmlns:p14="http://schemas.microsoft.com/office/powerpoint/2010/main" val="1527737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Project Learning</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marL="0" indent="0">
              <a:lnSpc>
                <a:spcPct val="100000"/>
              </a:lnSpc>
              <a:spcBef>
                <a:spcPts val="600"/>
              </a:spcBef>
              <a:spcAft>
                <a:spcPts val="600"/>
              </a:spcAft>
              <a:buNone/>
            </a:pPr>
            <a:r>
              <a:rPr lang="en-US" sz="1800" dirty="0">
                <a:latin typeface="Arial" panose="020B0604020202020204" pitchFamily="34" charset="0"/>
                <a:cs typeface="Arial" panose="020B0604020202020204" pitchFamily="34" charset="0"/>
              </a:rPr>
              <a:t>Throughout the development of the Enhanced Road Detection System, team members played critical roles in various aspects of the project, contributing valuable insights and gaining significant experiences: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Technical Expertise: </a:t>
            </a:r>
            <a:r>
              <a:rPr lang="en-US" sz="1800" dirty="0">
                <a:latin typeface="Arial" panose="020B0604020202020204" pitchFamily="34" charset="0"/>
                <a:cs typeface="Arial" panose="020B0604020202020204" pitchFamily="34" charset="0"/>
              </a:rPr>
              <a:t>Team members enhanced their proficiency in computer vision algorithms and YOLO, such as object detection and image analysis, through hands-on experience. They deepened their understanding of image processing techniques and their practical application in real-world scenarios.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Problem-solving Skills: </a:t>
            </a:r>
            <a:r>
              <a:rPr lang="en-US" sz="1800" dirty="0">
                <a:latin typeface="Arial" panose="020B0604020202020204" pitchFamily="34" charset="0"/>
                <a:cs typeface="Arial" panose="020B0604020202020204" pitchFamily="34" charset="0"/>
              </a:rPr>
              <a:t>Encountering challenges such as accurately detecting lane boundaries and road hazards, team members honed their problem-solving skills. Through iterative problem-solving approaches, they developed effective solutions to address complex technical challenges.</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Collaborative Teamwork: </a:t>
            </a:r>
            <a:r>
              <a:rPr lang="en-US" sz="1800" dirty="0">
                <a:latin typeface="Arial" panose="020B0604020202020204" pitchFamily="34" charset="0"/>
                <a:cs typeface="Arial" panose="020B0604020202020204" pitchFamily="34" charset="0"/>
              </a:rPr>
              <a:t>Collaborating closely with teammates, team members learned the importance of effective communication and coordination in a team setting. By sharing insights and working collaboratively, they were able to leverage each other's strengths and address technical challenges more effectively.</a:t>
            </a:r>
          </a:p>
          <a:p>
            <a:pPr>
              <a:lnSpc>
                <a:spcPct val="100000"/>
              </a:lnSpc>
              <a:spcBef>
                <a:spcPts val="600"/>
              </a:spcBef>
              <a:spcAft>
                <a:spcPts val="600"/>
              </a:spcAft>
            </a:pPr>
            <a:r>
              <a:rPr lang="en-US" sz="1800" b="1" dirty="0">
                <a:latin typeface="Arial" panose="020B0604020202020204" pitchFamily="34" charset="0"/>
                <a:cs typeface="Arial" panose="020B0604020202020204" pitchFamily="34" charset="0"/>
              </a:rPr>
              <a:t>Project Management: </a:t>
            </a:r>
            <a:r>
              <a:rPr lang="en-US" sz="1800" dirty="0">
                <a:latin typeface="Arial" panose="020B0604020202020204" pitchFamily="34" charset="0"/>
                <a:cs typeface="Arial" panose="020B0604020202020204" pitchFamily="34" charset="0"/>
              </a:rPr>
              <a:t>Team members gained experience in managing project tasks and timelines, ensuring adherence to project milestones and deadlines. Their contributions to project management facilitated the overall progress and success of the Enhanced Road Detection System.</a:t>
            </a:r>
          </a:p>
        </p:txBody>
      </p:sp>
    </p:spTree>
    <p:extLst>
      <p:ext uri="{BB962C8B-B14F-4D97-AF65-F5344CB8AC3E}">
        <p14:creationId xmlns:p14="http://schemas.microsoft.com/office/powerpoint/2010/main" val="3275428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Existing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Lane Detection Systems: </a:t>
            </a:r>
            <a:r>
              <a:rPr lang="en-US" sz="2000" dirty="0">
                <a:latin typeface="Arial" panose="020B0604020202020204" pitchFamily="34" charset="0"/>
                <a:cs typeface="Arial" panose="020B0604020202020204" pitchFamily="34" charset="0"/>
              </a:rPr>
              <a:t>Traditional lane detection systems use image processing algorithms but follow a sequential approach, limiting their output and reliability. These systems often fail to produce the required output for further usage, and their reliability is comparatively lower.</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Pothole Detection Systems: </a:t>
            </a:r>
            <a:r>
              <a:rPr lang="en-US" sz="2000" dirty="0">
                <a:latin typeface="Arial" panose="020B0604020202020204" pitchFamily="34" charset="0"/>
                <a:cs typeface="Arial" panose="020B0604020202020204" pitchFamily="34" charset="0"/>
              </a:rPr>
              <a:t>Existing pothole detection systems utilize image processing, vibration sensors, and GPS-based methods. Challenges arise in accurately detecting potholes, especially in urban environments with high traffic volumes and complex road geometries.</a:t>
            </a:r>
          </a:p>
          <a:p>
            <a:pPr>
              <a:lnSpc>
                <a:spcPct val="120000"/>
              </a:lnSpc>
              <a:spcBef>
                <a:spcPts val="600"/>
              </a:spcBef>
              <a:spcAft>
                <a:spcPts val="600"/>
              </a:spcAft>
            </a:pPr>
            <a:r>
              <a:rPr lang="en-US" sz="2000" b="1" dirty="0">
                <a:latin typeface="Arial" panose="020B0604020202020204" pitchFamily="34" charset="0"/>
                <a:cs typeface="Arial" panose="020B0604020202020204" pitchFamily="34" charset="0"/>
              </a:rPr>
              <a:t>Zebra Crossing and Traffic Signal Recognition Systems: </a:t>
            </a:r>
            <a:r>
              <a:rPr lang="en-US" sz="2000" dirty="0">
                <a:latin typeface="Arial" panose="020B0604020202020204" pitchFamily="34" charset="0"/>
                <a:cs typeface="Arial" panose="020B0604020202020204" pitchFamily="34" charset="0"/>
              </a:rPr>
              <a:t>These systems rely on computer vision algorithms to identify road markings, traffic signs, and signals. Challenges include variations in road surface textures, lighting conditions, occlusions, and complex urban landscapes, which may affect accurate recognition.</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62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Proposed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The project aims to develop an Enhanced Road Detection System incorporating three key components: Lane Detection, Pothole Detection, and Zebra Crossing/Traffic Signal Recognition.</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Lane Detection System: </a:t>
            </a:r>
            <a:r>
              <a:rPr lang="en-US" sz="2200" dirty="0">
                <a:latin typeface="Arial" panose="020B0604020202020204" pitchFamily="34" charset="0"/>
                <a:cs typeface="Arial" panose="020B0604020202020204" pitchFamily="34" charset="0"/>
              </a:rPr>
              <a:t>Utilizes computer vision algorithms(Open CV) for image processing to detect lane markings in input videos. Provides lane departure warnings and assists in lane maintenance for enhanced driving safety. </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Pothole Detection System: </a:t>
            </a:r>
            <a:r>
              <a:rPr lang="en-US" sz="2200" dirty="0">
                <a:latin typeface="Arial" panose="020B0604020202020204" pitchFamily="34" charset="0"/>
                <a:cs typeface="Arial" panose="020B0604020202020204" pitchFamily="34" charset="0"/>
              </a:rPr>
              <a:t>Implements machine learning techniques (YOLO) to identify potholes from video footage. Facilitates proactive maintenance and repair efforts to improve road safety by capturing images.</a:t>
            </a:r>
          </a:p>
          <a:p>
            <a:pPr>
              <a:lnSpc>
                <a:spcPct val="100000"/>
              </a:lnSpc>
              <a:spcBef>
                <a:spcPts val="600"/>
              </a:spcBef>
              <a:spcAft>
                <a:spcPts val="600"/>
              </a:spcAft>
            </a:pPr>
            <a:r>
              <a:rPr lang="en-US" sz="2200" b="1" dirty="0">
                <a:latin typeface="Arial" panose="020B0604020202020204" pitchFamily="34" charset="0"/>
                <a:cs typeface="Arial" panose="020B0604020202020204" pitchFamily="34" charset="0"/>
              </a:rPr>
              <a:t>Zebra Crossing/Traffic Signal Recognition System: </a:t>
            </a:r>
            <a:r>
              <a:rPr lang="en-US" sz="2200" dirty="0">
                <a:latin typeface="Arial" panose="020B0604020202020204" pitchFamily="34" charset="0"/>
                <a:cs typeface="Arial" panose="020B0604020202020204" pitchFamily="34" charset="0"/>
              </a:rPr>
              <a:t>Employs machine learning techniques (YOLO) for accurate detection of zebra crossings and traffic signals. Enhances pedestrian safety and traffic regulation.</a:t>
            </a:r>
          </a:p>
        </p:txBody>
      </p:sp>
    </p:spTree>
    <p:extLst>
      <p:ext uri="{BB962C8B-B14F-4D97-AF65-F5344CB8AC3E}">
        <p14:creationId xmlns:p14="http://schemas.microsoft.com/office/powerpoint/2010/main" val="12622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spcBef>
                <a:spcPts val="600"/>
              </a:spcBef>
              <a:spcAft>
                <a:spcPts val="600"/>
              </a:spcAft>
              <a:buNone/>
            </a:pPr>
            <a:r>
              <a:rPr lang="en-US" sz="1900" b="1" dirty="0">
                <a:latin typeface="Arial" panose="020B0604020202020204" pitchFamily="34" charset="0"/>
                <a:cs typeface="Arial" panose="020B0604020202020204" pitchFamily="34" charset="0"/>
              </a:rPr>
              <a:t>Fundamental Requirements</a:t>
            </a:r>
            <a:endParaRPr lang="en-US" sz="1900" dirty="0">
              <a:latin typeface="Arial" panose="020B0604020202020204" pitchFamily="34" charset="0"/>
              <a:cs typeface="Arial" panose="020B0604020202020204" pitchFamily="34" charset="0"/>
            </a:endParaRP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input: The system should allow users to give input data in video formats.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Output: The system should generate the output in video format and should store at a particular location. Also, it should display it to the end user.</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Data storage: The system must store and retrieve data according to requirement.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User interface: The system should have a user interface that facilitates easy interaction of input and output data.</a:t>
            </a:r>
          </a:p>
          <a:p>
            <a:pPr marL="0" indent="0">
              <a:spcBef>
                <a:spcPts val="600"/>
              </a:spcBef>
              <a:spcAft>
                <a:spcPts val="600"/>
              </a:spcAft>
              <a:buNone/>
            </a:pPr>
            <a:r>
              <a:rPr lang="en-US" sz="1900" b="1" dirty="0">
                <a:latin typeface="Arial" panose="020B0604020202020204" pitchFamily="34" charset="0"/>
                <a:cs typeface="Arial" panose="020B0604020202020204" pitchFamily="34" charset="0"/>
              </a:rPr>
              <a:t>Performance Requirements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Response time: The system should respond to user requests and should intimate user about the process start or stop status.</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Throughput: The system should be able to handle multiple videos from a single input.</a:t>
            </a:r>
          </a:p>
          <a:p>
            <a:pPr>
              <a:lnSpc>
                <a:spcPct val="100000"/>
              </a:lnSpc>
              <a:spcBef>
                <a:spcPts val="600"/>
              </a:spcBef>
              <a:spcAft>
                <a:spcPts val="600"/>
              </a:spcAft>
            </a:pPr>
            <a:r>
              <a:rPr lang="en-US" sz="1900" dirty="0">
                <a:latin typeface="Arial" panose="020B0604020202020204" pitchFamily="34" charset="0"/>
                <a:cs typeface="Arial" panose="020B0604020202020204" pitchFamily="34" charset="0"/>
              </a:rPr>
              <a:t>Scalability: The system should be able to accommodate an increasing number input videos for further usage and scalability.</a:t>
            </a:r>
          </a:p>
        </p:txBody>
      </p:sp>
    </p:spTree>
    <p:extLst>
      <p:ext uri="{BB962C8B-B14F-4D97-AF65-F5344CB8AC3E}">
        <p14:creationId xmlns:p14="http://schemas.microsoft.com/office/powerpoint/2010/main" val="70554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20000"/>
          </a:bodyPr>
          <a:lstStyle/>
          <a:p>
            <a:pPr marL="0" indent="0">
              <a:lnSpc>
                <a:spcPct val="120000"/>
              </a:lnSpc>
              <a:spcBef>
                <a:spcPts val="600"/>
              </a:spcBef>
              <a:spcAft>
                <a:spcPts val="600"/>
              </a:spcAft>
              <a:buNone/>
            </a:pPr>
            <a:r>
              <a:rPr lang="en-US" sz="2200" b="1" dirty="0">
                <a:latin typeface="Arial" panose="020B0604020202020204" pitchFamily="34" charset="0"/>
                <a:cs typeface="Arial" panose="020B0604020202020204" pitchFamily="34" charset="0"/>
              </a:rPr>
              <a:t>Software Requirements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Operating System Compatibility: The system should be compatible with Windows 10 or later.</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Programming Language: Utilize programming languages such as Python for development.</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Development Environment: Use integrated development environments (IDEs) such as PyCharm, Visual Studio Code for coding and debugging.</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Libraries and Frameworks: Utilize computer vision libraries/frameworks such as OpenCV, for image processing and YOLO for machine learning tasks. Utilize libraries for video processing, such as FFmpeg, for handling video streams.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Database Management System: Implement a database management system (PostgreSQL) for storing potholes data for further usage.</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Graphical User Interface (GUI): Implement a GUI framework (Tkinter) for user interaction and visualization of detection results.</a:t>
            </a:r>
          </a:p>
          <a:p>
            <a:pPr>
              <a:lnSpc>
                <a:spcPct val="120000"/>
              </a:lnSpc>
              <a:spcBef>
                <a:spcPts val="600"/>
              </a:spcBef>
              <a:spcAft>
                <a:spcPts val="600"/>
              </a:spcAft>
            </a:pPr>
            <a:r>
              <a:rPr lang="en-US" sz="2200" dirty="0">
                <a:latin typeface="Arial" panose="020B0604020202020204" pitchFamily="34" charset="0"/>
                <a:cs typeface="Arial" panose="020B0604020202020204" pitchFamily="34" charset="0"/>
              </a:rPr>
              <a:t>Web Integration: Implement HTML and CSS for web-based interfaces.</a:t>
            </a:r>
          </a:p>
        </p:txBody>
      </p:sp>
    </p:spTree>
    <p:extLst>
      <p:ext uri="{BB962C8B-B14F-4D97-AF65-F5344CB8AC3E}">
        <p14:creationId xmlns:p14="http://schemas.microsoft.com/office/powerpoint/2010/main" val="826625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Requirements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0" indent="0">
              <a:lnSpc>
                <a:spcPct val="100000"/>
              </a:lnSpc>
              <a:spcBef>
                <a:spcPts val="600"/>
              </a:spcBef>
              <a:spcAft>
                <a:spcPts val="600"/>
              </a:spcAft>
              <a:buNone/>
            </a:pPr>
            <a:r>
              <a:rPr lang="en-US" sz="1900" b="1" dirty="0">
                <a:latin typeface="Arial" panose="020B0604020202020204" pitchFamily="34" charset="0"/>
                <a:cs typeface="Arial" panose="020B0604020202020204" pitchFamily="34" charset="0"/>
              </a:rPr>
              <a:t>Hardware Requirements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Processor: Intel Core i5 or AMD Ryzen 5 (or equivalent) for optimal performance.</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Memory (RAM): Minimum 8GB RAM for smooth operation; 16GB or higher recommended for processing-intensive tasks.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Storage: Solid State Drive (SSD) with sufficient capacity for storing software, datasets, and videos.</a:t>
            </a:r>
          </a:p>
          <a:p>
            <a:pPr marL="0" indent="0">
              <a:lnSpc>
                <a:spcPct val="100000"/>
              </a:lnSpc>
              <a:spcBef>
                <a:spcPts val="600"/>
              </a:spcBef>
              <a:spcAft>
                <a:spcPts val="600"/>
              </a:spcAft>
              <a:buNone/>
            </a:pPr>
            <a:r>
              <a:rPr lang="en-US" sz="1900" dirty="0">
                <a:latin typeface="Arial" panose="020B0604020202020204" pitchFamily="34" charset="0"/>
                <a:cs typeface="Arial" panose="020B0604020202020204" pitchFamily="34" charset="0"/>
              </a:rPr>
              <a:t>Graphics Processing Unit (GPU): NVIDIA GeForce GTX 1060 or AMD Radeon RX 580 (or equivalent) for accelerated image processing and machine learning tasks. GPUs with CUDA or OpenCL support are preferred.</a:t>
            </a:r>
          </a:p>
        </p:txBody>
      </p:sp>
    </p:spTree>
    <p:extLst>
      <p:ext uri="{BB962C8B-B14F-4D97-AF65-F5344CB8AC3E}">
        <p14:creationId xmlns:p14="http://schemas.microsoft.com/office/powerpoint/2010/main" val="3076489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Lane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comprehensive module for lane detection integrates several key functionalities designed to accurately identify lane lines in images or videos. </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module begins with a </a:t>
            </a:r>
            <a:r>
              <a:rPr lang="en-US" sz="1600" b="1" dirty="0">
                <a:latin typeface="Arial" panose="020B0604020202020204" pitchFamily="34" charset="0"/>
                <a:cs typeface="Arial" panose="020B0604020202020204" pitchFamily="34" charset="0"/>
              </a:rPr>
              <a:t>CameraCalibrationTool</a:t>
            </a:r>
            <a:r>
              <a:rPr lang="en-US" sz="1600" dirty="0">
                <a:latin typeface="Arial" panose="020B0604020202020204" pitchFamily="34" charset="0"/>
                <a:cs typeface="Arial" panose="020B0604020202020204" pitchFamily="34" charset="0"/>
              </a:rPr>
              <a:t> class responsible for calibrating the camera using chessboard images. This step ensures accurate distortion correction, vital for subsequent processing steps. Following calibration, the </a:t>
            </a:r>
            <a:r>
              <a:rPr lang="en-US" sz="1600" b="1" dirty="0">
                <a:latin typeface="Arial" panose="020B0604020202020204" pitchFamily="34" charset="0"/>
                <a:cs typeface="Arial" panose="020B0604020202020204" pitchFamily="34" charset="0"/>
              </a:rPr>
              <a:t>ImagePerspectiveTransformer</a:t>
            </a:r>
            <a:r>
              <a:rPr lang="en-US" sz="1600" dirty="0">
                <a:latin typeface="Arial" panose="020B0604020202020204" pitchFamily="34" charset="0"/>
                <a:cs typeface="Arial" panose="020B0604020202020204" pitchFamily="34" charset="0"/>
              </a:rPr>
              <a:t> class employs perspective transformation techniques to rectify images, transforming them from the camera's perspective to a bird's-eye view. This transformation facilitates more straightforward lane detection by simplifying the lane's representation.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Subsequently, the </a:t>
            </a:r>
            <a:r>
              <a:rPr lang="en-US" sz="1600" b="1" dirty="0" err="1">
                <a:latin typeface="Arial" panose="020B0604020202020204" pitchFamily="34" charset="0"/>
                <a:cs typeface="Arial" panose="020B0604020202020204" pitchFamily="34" charset="0"/>
              </a:rPr>
              <a:t>ThresholdingLaneIdentifier</a:t>
            </a:r>
            <a:r>
              <a:rPr lang="en-US" sz="1600" dirty="0">
                <a:latin typeface="Arial" panose="020B0604020202020204" pitchFamily="34" charset="0"/>
                <a:cs typeface="Arial" panose="020B0604020202020204" pitchFamily="34" charset="0"/>
              </a:rPr>
              <a:t> class comes into play, leveraging thresholding techniques to isolate lane features within the transformed images. By converting images to different color spaces and applying specific thresholding operations, this class effectively highlights lane lines, distinguishing them from the surrounding environment.</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The lane detection pipeline continues with the </a:t>
            </a:r>
            <a:r>
              <a:rPr lang="en-US" sz="1600" b="1" dirty="0" err="1">
                <a:latin typeface="Arial" panose="020B0604020202020204" pitchFamily="34" charset="0"/>
                <a:cs typeface="Arial" panose="020B0604020202020204" pitchFamily="34" charset="0"/>
              </a:rPr>
              <a:t>LaneRecognitionSystem</a:t>
            </a:r>
            <a:r>
              <a:rPr lang="en-US" sz="1600" dirty="0">
                <a:latin typeface="Arial" panose="020B0604020202020204" pitchFamily="34" charset="0"/>
                <a:cs typeface="Arial" panose="020B0604020202020204" pitchFamily="34" charset="0"/>
              </a:rPr>
              <a:t> class, which implements a sophisticated algorithm to detect and plot lane lines. By analyzing pixel distributions and fitting polynomials, this class accurately identifies the left and right lane boundaries, providing crucial information for vehicle navigation.</a:t>
            </a:r>
          </a:p>
          <a:p>
            <a:pPr>
              <a:lnSpc>
                <a:spcPct val="100000"/>
              </a:lnSpc>
              <a:spcBef>
                <a:spcPts val="600"/>
              </a:spcBef>
              <a:spcAft>
                <a:spcPts val="600"/>
              </a:spcAft>
            </a:pPr>
            <a:r>
              <a:rPr lang="en-US" sz="1600" dirty="0">
                <a:latin typeface="Arial" panose="020B0604020202020204" pitchFamily="34" charset="0"/>
                <a:cs typeface="Arial" panose="020B0604020202020204" pitchFamily="34" charset="0"/>
              </a:rPr>
              <a:t>Finally, the </a:t>
            </a:r>
            <a:r>
              <a:rPr lang="en-US" sz="1600" b="1" dirty="0" err="1">
                <a:latin typeface="Arial" panose="020B0604020202020204" pitchFamily="34" charset="0"/>
                <a:cs typeface="Arial" panose="020B0604020202020204" pitchFamily="34" charset="0"/>
              </a:rPr>
              <a:t>FindLaneLines</a:t>
            </a:r>
            <a:r>
              <a:rPr lang="en-US" sz="1600" dirty="0">
                <a:latin typeface="Arial" panose="020B0604020202020204" pitchFamily="34" charset="0"/>
                <a:cs typeface="Arial" panose="020B0604020202020204" pitchFamily="34" charset="0"/>
              </a:rPr>
              <a:t> class orchestrates the entire lane detection process. It integrates the functionalities of the preceding classes, orchestrating camera calibration, perspective transformation, thresholding, and lane recognition to provide a seamless pipeline for detecting lane lines in images or videos. This class encapsulates the core logic of the lane detection system, offering a robust solution for real-world applications such as autonomous driving or lane departure warning systems.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557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Pothole Detection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System consists of a Python module designed to interact with a PostgreSQL database to store and retrieve images related to pothole detection.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module comprises two main functions: </a:t>
            </a:r>
            <a:r>
              <a:rPr lang="en-US" sz="1800" dirty="0" err="1">
                <a:latin typeface="Arial" panose="020B0604020202020204" pitchFamily="34" charset="0"/>
                <a:cs typeface="Arial" panose="020B0604020202020204" pitchFamily="34" charset="0"/>
              </a:rPr>
              <a:t>run_pothole_detection</a:t>
            </a:r>
            <a:r>
              <a:rPr lang="en-US" sz="1800" dirty="0">
                <a:latin typeface="Arial" panose="020B0604020202020204" pitchFamily="34" charset="0"/>
                <a:cs typeface="Arial" panose="020B0604020202020204" pitchFamily="34" charset="0"/>
              </a:rPr>
              <a:t> and </a:t>
            </a:r>
            <a:r>
              <a:rPr lang="en-US" sz="1800" dirty="0" err="1">
                <a:latin typeface="Arial" panose="020B0604020202020204" pitchFamily="34" charset="0"/>
                <a:cs typeface="Arial" panose="020B0604020202020204" pitchFamily="34" charset="0"/>
              </a:rPr>
              <a:t>view_screenshots</a:t>
            </a:r>
            <a:r>
              <a:rPr lang="en-US" sz="1800" dirty="0">
                <a:latin typeface="Arial" panose="020B0604020202020204" pitchFamily="34" charset="0"/>
                <a:cs typeface="Arial" panose="020B0604020202020204" pitchFamily="34" charset="0"/>
              </a:rPr>
              <a:t>.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Pothole Detection: The </a:t>
            </a:r>
            <a:r>
              <a:rPr lang="en-US" sz="1800" b="1" dirty="0">
                <a:latin typeface="Arial" panose="020B0604020202020204" pitchFamily="34" charset="0"/>
                <a:cs typeface="Arial" panose="020B0604020202020204" pitchFamily="34" charset="0"/>
              </a:rPr>
              <a:t>run_pothole_detection </a:t>
            </a:r>
            <a:r>
              <a:rPr lang="en-US" sz="1800" dirty="0">
                <a:latin typeface="Arial" panose="020B0604020202020204" pitchFamily="34" charset="0"/>
                <a:cs typeface="Arial" panose="020B0604020202020204" pitchFamily="34" charset="0"/>
              </a:rPr>
              <a:t>function utilizes the YOLO (You Only Look Once) object detection model to analyze a given video file for potholes. It processes each frame of the video, identifies potholes using YOLO, and stores frames containing detected potholes in the PostgreSQL database. Additionally, it establishes a connection to the database using psycopg2 and creates a table to store image data.</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Screenshot Viewing: The </a:t>
            </a:r>
            <a:r>
              <a:rPr lang="en-US" sz="1800" b="1" dirty="0" err="1">
                <a:latin typeface="Arial" panose="020B0604020202020204" pitchFamily="34" charset="0"/>
                <a:cs typeface="Arial" panose="020B0604020202020204" pitchFamily="34" charset="0"/>
              </a:rPr>
              <a:t>view_screenshots</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function retrieves stored images from the database and presents them to the user for viewing. It connects to the PostgreSQL database, fetches image data along with associated IDs, and decodes the base64-encoded image data using NumPy and OpenCV. The function then prompts the user to input the number of images to display, displays the images using OpenCV, and handles any exceptions that may occur during the process.</a:t>
            </a:r>
          </a:p>
        </p:txBody>
      </p:sp>
    </p:spTree>
    <p:extLst>
      <p:ext uri="{BB962C8B-B14F-4D97-AF65-F5344CB8AC3E}">
        <p14:creationId xmlns:p14="http://schemas.microsoft.com/office/powerpoint/2010/main" val="2758211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fontScale="90000"/>
          </a:bodyPr>
          <a:lstStyle/>
          <a:p>
            <a:r>
              <a:rPr lang="en-IN" sz="2800" b="1" dirty="0">
                <a:latin typeface="Arial" panose="020B0604020202020204" pitchFamily="34" charset="0"/>
                <a:cs typeface="Arial" panose="020B0604020202020204" pitchFamily="34" charset="0"/>
              </a:rPr>
              <a:t>Modules – </a:t>
            </a:r>
            <a:r>
              <a:rPr lang="en-US" sz="2800" b="1" dirty="0">
                <a:latin typeface="Arial" panose="020B0604020202020204" pitchFamily="34" charset="0"/>
                <a:cs typeface="Arial" panose="020B0604020202020204" pitchFamily="34" charset="0"/>
              </a:rPr>
              <a:t>Zebra Crossing and Traffic Signal Recognition System</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Autofit/>
          </a:bodyPr>
          <a:lstStyle/>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The presented module orchestrates a real-time traffic management system, utilizing the YOLO object detection framework for identifying crucial elements within a video stream. It begins by loading a pre-trained </a:t>
            </a:r>
            <a:r>
              <a:rPr lang="en-US" sz="1800" b="1" dirty="0">
                <a:latin typeface="Arial" panose="020B0604020202020204" pitchFamily="34" charset="0"/>
                <a:cs typeface="Arial" panose="020B0604020202020204" pitchFamily="34" charset="0"/>
              </a:rPr>
              <a:t>YOLO model </a:t>
            </a:r>
            <a:r>
              <a:rPr lang="en-US" sz="1800" dirty="0">
                <a:latin typeface="Arial" panose="020B0604020202020204" pitchFamily="34" charset="0"/>
                <a:cs typeface="Arial" panose="020B0604020202020204" pitchFamily="34" charset="0"/>
              </a:rPr>
              <a:t>and capturing the input video stream. Subsequently, each frame undergoes resizing to match the model's input size.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YOLO predicts objects in the frames, with subsequent processing aimed at recognizing traffic signals, zebra crossings, and pedestrians. Upon detection, informative messages are overlaid onto the frames, guiding the driver accordingly. For instance, if a red traffic light is detected, a prompt to stop is displayed, while a green light prompts safe passage.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Moreover, the system advises slowing down upon detecting a zebra crossing or a yellow traffic light. Pedestrians crossing at zebra crossings are also accounted for, with encouragement to proceed when detected. </a:t>
            </a:r>
          </a:p>
          <a:p>
            <a:pPr>
              <a:lnSpc>
                <a:spcPct val="100000"/>
              </a:lnSpc>
              <a:spcBef>
                <a:spcPts val="600"/>
              </a:spcBef>
              <a:spcAft>
                <a:spcPts val="600"/>
              </a:spcAft>
            </a:pPr>
            <a:r>
              <a:rPr lang="en-US" sz="1800" dirty="0">
                <a:latin typeface="Arial" panose="020B0604020202020204" pitchFamily="34" charset="0"/>
                <a:cs typeface="Arial" panose="020B0604020202020204" pitchFamily="34" charset="0"/>
              </a:rPr>
              <a:t>Finally, the processed frames, enriched with annotations and guidance, are written to an output video file. This module embodies a holistic approach to real-time traffic management, leveraging cutting-edge object detection techniques to enhance driver awareness and safety.</a:t>
            </a:r>
          </a:p>
        </p:txBody>
      </p:sp>
    </p:spTree>
    <p:extLst>
      <p:ext uri="{BB962C8B-B14F-4D97-AF65-F5344CB8AC3E}">
        <p14:creationId xmlns:p14="http://schemas.microsoft.com/office/powerpoint/2010/main" val="128464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ERD And Normalization Diagram </a:t>
            </a:r>
          </a:p>
        </p:txBody>
      </p:sp>
      <p:pic>
        <p:nvPicPr>
          <p:cNvPr id="6" name="Picture 5">
            <a:extLst>
              <a:ext uri="{FF2B5EF4-FFF2-40B4-BE49-F238E27FC236}">
                <a16:creationId xmlns:a16="http://schemas.microsoft.com/office/drawing/2014/main" id="{09CA4EBA-204F-E57A-D818-5EC4E88DE2A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199" y="1036948"/>
            <a:ext cx="10515599" cy="5307832"/>
          </a:xfrm>
          <a:prstGeom prst="rect">
            <a:avLst/>
          </a:prstGeom>
          <a:noFill/>
          <a:ln>
            <a:noFill/>
          </a:ln>
        </p:spPr>
      </p:pic>
    </p:spTree>
    <p:extLst>
      <p:ext uri="{BB962C8B-B14F-4D97-AF65-F5344CB8AC3E}">
        <p14:creationId xmlns:p14="http://schemas.microsoft.com/office/powerpoint/2010/main" val="100966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UML Diagram</a:t>
            </a:r>
          </a:p>
        </p:txBody>
      </p:sp>
      <p:pic>
        <p:nvPicPr>
          <p:cNvPr id="3" name="Picture 2">
            <a:extLst>
              <a:ext uri="{FF2B5EF4-FFF2-40B4-BE49-F238E27FC236}">
                <a16:creationId xmlns:a16="http://schemas.microsoft.com/office/drawing/2014/main" id="{D39005EA-0BB0-D7F8-55C5-E6CE6BDBD4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8367" y="1036948"/>
            <a:ext cx="6815265" cy="5707931"/>
          </a:xfrm>
          <a:prstGeom prst="rect">
            <a:avLst/>
          </a:prstGeom>
          <a:noFill/>
          <a:ln>
            <a:noFill/>
          </a:ln>
        </p:spPr>
      </p:pic>
    </p:spTree>
    <p:extLst>
      <p:ext uri="{BB962C8B-B14F-4D97-AF65-F5344CB8AC3E}">
        <p14:creationId xmlns:p14="http://schemas.microsoft.com/office/powerpoint/2010/main" val="2517760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Use Case Diagram</a:t>
            </a:r>
          </a:p>
        </p:txBody>
      </p:sp>
      <p:pic>
        <p:nvPicPr>
          <p:cNvPr id="4" name="Picture 3">
            <a:extLst>
              <a:ext uri="{FF2B5EF4-FFF2-40B4-BE49-F238E27FC236}">
                <a16:creationId xmlns:a16="http://schemas.microsoft.com/office/drawing/2014/main" id="{FCF59BE1-6BD7-7689-62B7-663626B215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0613" y="1036948"/>
            <a:ext cx="9210773" cy="5588623"/>
          </a:xfrm>
          <a:prstGeom prst="rect">
            <a:avLst/>
          </a:prstGeom>
        </p:spPr>
      </p:pic>
    </p:spTree>
    <p:extLst>
      <p:ext uri="{BB962C8B-B14F-4D97-AF65-F5344CB8AC3E}">
        <p14:creationId xmlns:p14="http://schemas.microsoft.com/office/powerpoint/2010/main" val="278954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Sequence Diagram</a:t>
            </a:r>
          </a:p>
        </p:txBody>
      </p:sp>
      <p:pic>
        <p:nvPicPr>
          <p:cNvPr id="4" name="Picture 3">
            <a:extLst>
              <a:ext uri="{FF2B5EF4-FFF2-40B4-BE49-F238E27FC236}">
                <a16:creationId xmlns:a16="http://schemas.microsoft.com/office/drawing/2014/main" id="{5D978D22-49A1-B702-F57B-7E6CD84096CD}"/>
              </a:ext>
            </a:extLst>
          </p:cNvPr>
          <p:cNvPicPr>
            <a:picLocks noChangeAspect="1"/>
          </p:cNvPicPr>
          <p:nvPr/>
        </p:nvPicPr>
        <p:blipFill rotWithShape="1">
          <a:blip r:embed="rId2"/>
          <a:srcRect t="6174" b="3430"/>
          <a:stretch/>
        </p:blipFill>
        <p:spPr>
          <a:xfrm>
            <a:off x="2137533" y="1036948"/>
            <a:ext cx="7916934" cy="5636200"/>
          </a:xfrm>
          <a:prstGeom prst="rect">
            <a:avLst/>
          </a:prstGeom>
        </p:spPr>
      </p:pic>
    </p:spTree>
    <p:extLst>
      <p:ext uri="{BB962C8B-B14F-4D97-AF65-F5344CB8AC3E}">
        <p14:creationId xmlns:p14="http://schemas.microsoft.com/office/powerpoint/2010/main" val="1146854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System Design - Activity  Diagram</a:t>
            </a:r>
          </a:p>
        </p:txBody>
      </p:sp>
      <p:pic>
        <p:nvPicPr>
          <p:cNvPr id="3" name="Picture 2">
            <a:extLst>
              <a:ext uri="{FF2B5EF4-FFF2-40B4-BE49-F238E27FC236}">
                <a16:creationId xmlns:a16="http://schemas.microsoft.com/office/drawing/2014/main" id="{BC23E6B4-2CF9-69D8-DE66-7E3693A464E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4203" y="1036948"/>
            <a:ext cx="6643593" cy="5462054"/>
          </a:xfrm>
          <a:prstGeom prst="rect">
            <a:avLst/>
          </a:prstGeom>
          <a:noFill/>
          <a:ln>
            <a:noFill/>
          </a:ln>
        </p:spPr>
      </p:pic>
    </p:spTree>
    <p:extLst>
      <p:ext uri="{BB962C8B-B14F-4D97-AF65-F5344CB8AC3E}">
        <p14:creationId xmlns:p14="http://schemas.microsoft.com/office/powerpoint/2010/main" val="3889630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User Interface</a:t>
            </a:r>
          </a:p>
        </p:txBody>
      </p:sp>
      <p:pic>
        <p:nvPicPr>
          <p:cNvPr id="7" name="Picture 6">
            <a:extLst>
              <a:ext uri="{FF2B5EF4-FFF2-40B4-BE49-F238E27FC236}">
                <a16:creationId xmlns:a16="http://schemas.microsoft.com/office/drawing/2014/main" id="{6260EC20-34C5-FC5C-07C5-2288B63F5317}"/>
              </a:ext>
            </a:extLst>
          </p:cNvPr>
          <p:cNvPicPr>
            <a:picLocks noChangeAspect="1"/>
          </p:cNvPicPr>
          <p:nvPr/>
        </p:nvPicPr>
        <p:blipFill>
          <a:blip r:embed="rId2"/>
          <a:stretch>
            <a:fillRect/>
          </a:stretch>
        </p:blipFill>
        <p:spPr>
          <a:xfrm>
            <a:off x="669303" y="889070"/>
            <a:ext cx="10853394" cy="5686998"/>
          </a:xfrm>
          <a:prstGeom prst="rect">
            <a:avLst/>
          </a:prstGeom>
        </p:spPr>
      </p:pic>
    </p:spTree>
    <p:extLst>
      <p:ext uri="{BB962C8B-B14F-4D97-AF65-F5344CB8AC3E}">
        <p14:creationId xmlns:p14="http://schemas.microsoft.com/office/powerpoint/2010/main" val="684138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Lane Detection Output Interface</a:t>
            </a:r>
          </a:p>
        </p:txBody>
      </p:sp>
      <p:pic>
        <p:nvPicPr>
          <p:cNvPr id="3" name="Content Placeholder 4">
            <a:extLst>
              <a:ext uri="{FF2B5EF4-FFF2-40B4-BE49-F238E27FC236}">
                <a16:creationId xmlns:a16="http://schemas.microsoft.com/office/drawing/2014/main" id="{B52B21F3-9925-C31F-7580-BC22169F2E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175" y="1036948"/>
            <a:ext cx="10859650" cy="5687299"/>
          </a:xfrm>
          <a:prstGeom prst="rect">
            <a:avLst/>
          </a:prstGeom>
        </p:spPr>
      </p:pic>
    </p:spTree>
    <p:extLst>
      <p:ext uri="{BB962C8B-B14F-4D97-AF65-F5344CB8AC3E}">
        <p14:creationId xmlns:p14="http://schemas.microsoft.com/office/powerpoint/2010/main" val="3445401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Pothole Detection Output Interface</a:t>
            </a:r>
          </a:p>
        </p:txBody>
      </p:sp>
      <p:pic>
        <p:nvPicPr>
          <p:cNvPr id="4" name="Content Placeholder 3">
            <a:extLst>
              <a:ext uri="{FF2B5EF4-FFF2-40B4-BE49-F238E27FC236}">
                <a16:creationId xmlns:a16="http://schemas.microsoft.com/office/drawing/2014/main" id="{9B466D73-6D87-AAE7-EE07-F3B262A11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577" y="1036948"/>
            <a:ext cx="11168846" cy="5679704"/>
          </a:xfrm>
          <a:prstGeom prst="rect">
            <a:avLst/>
          </a:prstGeom>
        </p:spPr>
      </p:pic>
    </p:spTree>
    <p:extLst>
      <p:ext uri="{BB962C8B-B14F-4D97-AF65-F5344CB8AC3E}">
        <p14:creationId xmlns:p14="http://schemas.microsoft.com/office/powerpoint/2010/main" val="2432503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I/O Screens - Signal Detection Output Interface</a:t>
            </a:r>
          </a:p>
        </p:txBody>
      </p:sp>
      <p:pic>
        <p:nvPicPr>
          <p:cNvPr id="3" name="Picture 2">
            <a:extLst>
              <a:ext uri="{FF2B5EF4-FFF2-40B4-BE49-F238E27FC236}">
                <a16:creationId xmlns:a16="http://schemas.microsoft.com/office/drawing/2014/main" id="{28CD4DFE-7C90-3732-F57E-D64955E495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622" y="1677971"/>
            <a:ext cx="11684755" cy="4449452"/>
          </a:xfrm>
          <a:prstGeom prst="rect">
            <a:avLst/>
          </a:prstGeom>
          <a:noFill/>
          <a:ln>
            <a:noFill/>
          </a:ln>
        </p:spPr>
      </p:pic>
    </p:spTree>
    <p:extLst>
      <p:ext uri="{BB962C8B-B14F-4D97-AF65-F5344CB8AC3E}">
        <p14:creationId xmlns:p14="http://schemas.microsoft.com/office/powerpoint/2010/main" val="269618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Lane Line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9"/>
            <a:ext cx="10515600" cy="1980572"/>
          </a:xfrm>
        </p:spPr>
        <p:txBody>
          <a:bodyPr>
            <a:normAutofit/>
          </a:bodyPr>
          <a:lstStyle/>
          <a:p>
            <a:pPr marL="0" indent="0">
              <a:lnSpc>
                <a:spcPct val="150000"/>
              </a:lnSpc>
              <a:spcBef>
                <a:spcPts val="600"/>
              </a:spcBef>
              <a:spcAft>
                <a:spcPts val="600"/>
              </a:spcAft>
              <a:buNone/>
            </a:pP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Lane Detection - Positive test case. A sample road video is used for lane detection. </a:t>
            </a:r>
            <a:b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br>
            <a:r>
              <a:rPr lang="en-IN" sz="1800" kern="100" dirty="0">
                <a:solidFill>
                  <a:srgbClr val="0D0D0D"/>
                </a:solidFill>
                <a:effectLst/>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lane detection module (main.py) is installed and configured correctly. The necessary dependencies, including OpenCV, Matplotlib are installed.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069461466"/>
              </p:ext>
            </p:extLst>
          </p:nvPr>
        </p:nvGraphicFramePr>
        <p:xfrm>
          <a:off x="881380" y="2374507"/>
          <a:ext cx="10429239" cy="4351338"/>
        </p:xfrm>
        <a:graphic>
          <a:graphicData uri="http://schemas.openxmlformats.org/drawingml/2006/table">
            <a:tbl>
              <a:tblPr firstRow="1" firstCol="1" bandRow="1">
                <a:tableStyleId>{5940675A-B579-460E-94D1-54222C63F5DA}</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1468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75838">
                <a:tc>
                  <a:txBody>
                    <a:bodyPr/>
                    <a:lstStyle/>
                    <a:p>
                      <a:pPr algn="ctr">
                        <a:lnSpc>
                          <a:spcPct val="107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gn="ctr">
                        <a:lnSpc>
                          <a:spcPct val="107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952236509"/>
                  </a:ext>
                </a:extLst>
              </a:tr>
              <a:tr h="642998">
                <a:tc>
                  <a:txBody>
                    <a:bodyPr/>
                    <a:lstStyle/>
                    <a:p>
                      <a:pPr algn="ctr">
                        <a:lnSpc>
                          <a:spcPct val="107000"/>
                        </a:lnSpc>
                        <a:spcAft>
                          <a:spcPts val="800"/>
                        </a:spcAft>
                      </a:pPr>
                      <a:r>
                        <a:rPr lang="en-IN" sz="1000" kern="100">
                          <a:effectLst/>
                          <a:highlight>
                            <a:srgbClr val="FFFFFF"/>
                          </a:highlight>
                        </a:rPr>
                        <a:t>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Setup</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Lane detection module and dependencies are properly configured.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Dependencies configured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Dependencies configured without errors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155082796"/>
                  </a:ext>
                </a:extLst>
              </a:tr>
              <a:tr h="480255">
                <a:tc>
                  <a:txBody>
                    <a:bodyPr/>
                    <a:lstStyle/>
                    <a:p>
                      <a:pPr algn="ctr">
                        <a:lnSpc>
                          <a:spcPct val="107000"/>
                        </a:lnSpc>
                        <a:spcAft>
                          <a:spcPts val="800"/>
                        </a:spcAft>
                      </a:pPr>
                      <a:r>
                        <a:rPr lang="en-IN" sz="1000" kern="100">
                          <a:effectLst/>
                          <a:highlight>
                            <a:srgbClr val="FFFFFF"/>
                          </a:highlight>
                        </a:rPr>
                        <a:t>2</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Input Video Selection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road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A suitable sample road video is selected for testing.</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selected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Sample video successfully loaded.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3469045178"/>
                  </a:ext>
                </a:extLst>
              </a:tr>
              <a:tr h="642998">
                <a:tc>
                  <a:txBody>
                    <a:bodyPr/>
                    <a:lstStyle/>
                    <a:p>
                      <a:pPr algn="ctr">
                        <a:lnSpc>
                          <a:spcPct val="107000"/>
                        </a:lnSpc>
                        <a:spcAft>
                          <a:spcPts val="800"/>
                        </a:spcAft>
                      </a:pPr>
                      <a:r>
                        <a:rPr lang="en-IN" sz="1000" kern="100">
                          <a:effectLst/>
                          <a:highlight>
                            <a:srgbClr val="FFFFFF"/>
                          </a:highlight>
                        </a:rPr>
                        <a:t>3</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Execution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Selected video</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LD-1</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detection module is executed with the sample video as input.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detected accurately.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34451308"/>
                  </a:ext>
                </a:extLst>
              </a:tr>
              <a:tr h="642998">
                <a:tc>
                  <a:txBody>
                    <a:bodyPr/>
                    <a:lstStyle/>
                    <a:p>
                      <a:pPr algn="ctr">
                        <a:lnSpc>
                          <a:spcPct val="107000"/>
                        </a:lnSpc>
                        <a:spcAft>
                          <a:spcPts val="800"/>
                        </a:spcAft>
                      </a:pPr>
                      <a:r>
                        <a:rPr lang="en-IN" sz="1000" kern="100">
                          <a:effectLst/>
                          <a:highlight>
                            <a:srgbClr val="FFFFFF"/>
                          </a:highlight>
                        </a:rPr>
                        <a:t>4</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Validation of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High</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are accurately overlaid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ground truth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Lane lines overlaid precisely on the original video.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1325816414"/>
                  </a:ext>
                </a:extLst>
              </a:tr>
              <a:tr h="480255">
                <a:tc>
                  <a:txBody>
                    <a:bodyPr/>
                    <a:lstStyle/>
                    <a:p>
                      <a:pPr algn="ctr">
                        <a:lnSpc>
                          <a:spcPct val="107000"/>
                        </a:lnSpc>
                        <a:spcAft>
                          <a:spcPts val="800"/>
                        </a:spcAft>
                      </a:pPr>
                      <a:r>
                        <a:rPr lang="en-IN" sz="1000" kern="100">
                          <a:effectLst/>
                          <a:highlight>
                            <a:srgbClr val="FFFFFF"/>
                          </a:highlight>
                        </a:rPr>
                        <a:t>5</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Detected lane lines match the ground truth lane markings.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Assertion successful.</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Ground truth lane markings matched by detected lines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228753744"/>
                  </a:ext>
                </a:extLst>
              </a:tr>
              <a:tr h="642998">
                <a:tc>
                  <a:txBody>
                    <a:bodyPr/>
                    <a:lstStyle/>
                    <a:p>
                      <a:pPr algn="ctr">
                        <a:lnSpc>
                          <a:spcPct val="107000"/>
                        </a:lnSpc>
                        <a:spcAft>
                          <a:spcPts val="800"/>
                        </a:spcAft>
                      </a:pPr>
                      <a:r>
                        <a:rPr lang="en-IN" sz="1000" kern="100">
                          <a:effectLst/>
                          <a:highlight>
                            <a:srgbClr val="FFFFFF"/>
                          </a:highlight>
                        </a:rPr>
                        <a:t>6</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Feedback</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Discrepancies/issues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Any discrepancies or issues observed during testing are documented.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found.</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No discrepancies noted during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838358072"/>
                  </a:ext>
                </a:extLst>
              </a:tr>
              <a:tr h="642998">
                <a:tc>
                  <a:txBody>
                    <a:bodyPr/>
                    <a:lstStyle/>
                    <a:p>
                      <a:pPr algn="ctr">
                        <a:lnSpc>
                          <a:spcPct val="107000"/>
                        </a:lnSpc>
                        <a:spcAft>
                          <a:spcPts val="800"/>
                        </a:spcAft>
                      </a:pPr>
                      <a:r>
                        <a:rPr lang="en-IN" sz="1000" kern="100">
                          <a:effectLst/>
                          <a:highlight>
                            <a:srgbClr val="FFFFFF"/>
                          </a:highlight>
                        </a:rPr>
                        <a:t>7</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Regression Testing</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sample videos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LD-1</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High</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Test is repeated with multiple sample videos for consistency.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a:effectLst/>
                          <a:highlight>
                            <a:srgbClr val="FFFFFF"/>
                          </a:highlight>
                        </a:rPr>
                        <a:t>Multiple videos tested successfully.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0">
                          <a:effectLst/>
                          <a:highlight>
                            <a:srgbClr val="FFFFFF"/>
                          </a:highlight>
                        </a:rPr>
                        <a:t>Pass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tc>
                  <a:txBody>
                    <a:bodyPr/>
                    <a:lstStyle/>
                    <a:p>
                      <a:pPr>
                        <a:lnSpc>
                          <a:spcPct val="107000"/>
                        </a:lnSpc>
                        <a:spcAft>
                          <a:spcPts val="800"/>
                        </a:spcAft>
                      </a:pPr>
                      <a:r>
                        <a:rPr lang="en-IN" sz="1000" kern="100" dirty="0">
                          <a:effectLst/>
                          <a:highlight>
                            <a:srgbClr val="FFFFFF"/>
                          </a:highlight>
                        </a:rPr>
                        <a:t>Regression testing ensured continued accurate detection of lane lines.</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tc>
                <a:extLst>
                  <a:ext uri="{0D108BD9-81ED-4DB2-BD59-A6C34878D82A}">
                    <a16:rowId xmlns:a16="http://schemas.microsoft.com/office/drawing/2014/main" val="2953217408"/>
                  </a:ext>
                </a:extLst>
              </a:tr>
            </a:tbl>
          </a:graphicData>
        </a:graphic>
      </p:graphicFrame>
    </p:spTree>
    <p:extLst>
      <p:ext uri="{BB962C8B-B14F-4D97-AF65-F5344CB8AC3E}">
        <p14:creationId xmlns:p14="http://schemas.microsoft.com/office/powerpoint/2010/main" val="2687823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Pothole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Pothole Detection - Positive test case. A sample road video is used for pothole detection.</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pothole detection module (test.py)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1691752382"/>
              </p:ext>
            </p:extLst>
          </p:nvPr>
        </p:nvGraphicFramePr>
        <p:xfrm>
          <a:off x="868281" y="224242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0000"/>
                        </a:lnSpc>
                        <a:spcAft>
                          <a:spcPts val="800"/>
                        </a:spcAft>
                      </a:pPr>
                      <a:r>
                        <a:rPr lang="en-IN" sz="1200" kern="100">
                          <a:solidFill>
                            <a:srgbClr val="000000"/>
                          </a:solidFill>
                          <a:effectLst/>
                          <a:highlight>
                            <a:srgbClr val="FFFFFF"/>
                          </a:highlight>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Setup</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 detection module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Dependencies configured smoothly.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0000"/>
                        </a:lnSpc>
                        <a:spcAft>
                          <a:spcPts val="800"/>
                        </a:spcAft>
                      </a:pPr>
                      <a:r>
                        <a:rPr lang="en-IN" sz="1200" kern="100">
                          <a:solidFill>
                            <a:srgbClr val="000000"/>
                          </a:solidFill>
                          <a:effectLst/>
                          <a:highlight>
                            <a:srgbClr val="FFFFFF"/>
                          </a:highlight>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PD-1</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High</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Sample video input processed without 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0000"/>
                        </a:lnSpc>
                        <a:spcAft>
                          <a:spcPts val="800"/>
                        </a:spcAft>
                      </a:pPr>
                      <a:r>
                        <a:rPr lang="en-IN" sz="1200" kern="100">
                          <a:solidFill>
                            <a:srgbClr val="000000"/>
                          </a:solidFill>
                          <a:effectLst/>
                          <a:highlight>
                            <a:srgbClr val="FFFFFF"/>
                          </a:highlight>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dirty="0">
                          <a:solidFill>
                            <a:srgbClr val="000000"/>
                          </a:solidFill>
                          <a:effectLst/>
                          <a:highlight>
                            <a:srgbClr val="FFFFFF"/>
                          </a:highlight>
                        </a:rPr>
                        <a:t>Pothole detection module is executed with the sample video as input.</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detected effectively.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0000"/>
                        </a:lnSpc>
                        <a:spcAft>
                          <a:spcPts val="800"/>
                        </a:spcAft>
                      </a:pPr>
                      <a:r>
                        <a:rPr lang="en-IN" sz="1200" kern="100">
                          <a:solidFill>
                            <a:srgbClr val="000000"/>
                          </a:solidFill>
                          <a:effectLst/>
                          <a:highlight>
                            <a:srgbClr val="FFFFFF"/>
                          </a:highlight>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Potholes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Potholes marked accurately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0000"/>
                        </a:lnSpc>
                        <a:spcAft>
                          <a:spcPts val="800"/>
                        </a:spcAft>
                      </a:pPr>
                      <a:r>
                        <a:rPr lang="en-IN" sz="1200" kern="100">
                          <a:solidFill>
                            <a:srgbClr val="000000"/>
                          </a:solidFill>
                          <a:effectLst/>
                          <a:highlight>
                            <a:srgbClr val="FFFFFF"/>
                          </a:highlight>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Detected potholes match the ground truth pothole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a:solidFill>
                            <a:srgbClr val="0D0D0D"/>
                          </a:solidFill>
                          <a:effectLst/>
                          <a:highlight>
                            <a:srgbClr val="FFFFFF"/>
                          </a:highlight>
                        </a:rPr>
                        <a:t>Ground truth pothole locations matched by detected ones.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0000"/>
                        </a:lnSpc>
                        <a:spcAft>
                          <a:spcPts val="800"/>
                        </a:spcAft>
                      </a:pPr>
                      <a:r>
                        <a:rPr lang="en-IN" sz="1200" kern="100">
                          <a:solidFill>
                            <a:srgbClr val="000000"/>
                          </a:solidFill>
                          <a:effectLst/>
                          <a:highlight>
                            <a:srgbClr val="FFFFFF"/>
                          </a:highlight>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100">
                          <a:solidFill>
                            <a:srgbClr val="000000"/>
                          </a:solidFill>
                          <a:effectLst/>
                          <a:highlight>
                            <a:srgbClr val="FFFFFF"/>
                          </a:highlight>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200" kern="0" dirty="0">
                          <a:solidFill>
                            <a:srgbClr val="0D0D0D"/>
                          </a:solidFill>
                          <a:effectLst/>
                          <a:highlight>
                            <a:srgbClr val="FFFFFF"/>
                          </a:highlight>
                        </a:rPr>
                        <a:t>Testing revealed no discrepancies or issues.</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42500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Test Cases - Zebra and Signal Detection System</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036948"/>
            <a:ext cx="10515600" cy="5455927"/>
          </a:xfrm>
        </p:spPr>
        <p:txBody>
          <a:bodyPr>
            <a:normAutofit/>
          </a:bodyPr>
          <a:lstStyle/>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Test Case Description: Zebra Crossing and Signal Detection - Positive test case. A sample road video is used for detecting zebra crossings and traffic signals.</a:t>
            </a:r>
          </a:p>
          <a:p>
            <a:pPr marL="0" indent="0">
              <a:lnSpc>
                <a:spcPct val="100000"/>
              </a:lnSpc>
              <a:spcBef>
                <a:spcPts val="600"/>
              </a:spcBef>
              <a:spcAft>
                <a:spcPts val="600"/>
              </a:spcAft>
              <a:buNone/>
            </a:pPr>
            <a:r>
              <a:rPr lang="en-US" sz="1800" kern="100" dirty="0">
                <a:solidFill>
                  <a:srgbClr val="0D0D0D"/>
                </a:solidFill>
                <a:highlight>
                  <a:srgbClr val="FFFFFF"/>
                </a:highlight>
                <a:latin typeface="Times New Roman" panose="02020603050405020304" pitchFamily="18" charset="0"/>
                <a:ea typeface="Calibri" panose="020F0502020204030204" pitchFamily="34" charset="0"/>
                <a:cs typeface="Mangal" panose="02040503050203030202" pitchFamily="18" charset="0"/>
              </a:rPr>
              <a:t>Pre-Requisite: The Zebra and Signal detection module (zebra.py) is installed and configured correctly. The necessary dependencies, including OpenCV and NumPy are installed.</a:t>
            </a:r>
          </a:p>
        </p:txBody>
      </p:sp>
      <p:graphicFrame>
        <p:nvGraphicFramePr>
          <p:cNvPr id="6" name="Table 5">
            <a:extLst>
              <a:ext uri="{FF2B5EF4-FFF2-40B4-BE49-F238E27FC236}">
                <a16:creationId xmlns:a16="http://schemas.microsoft.com/office/drawing/2014/main" id="{66D74973-A03F-E8C1-83BF-7B8C77D7F0A5}"/>
              </a:ext>
            </a:extLst>
          </p:cNvPr>
          <p:cNvGraphicFramePr>
            <a:graphicFrameLocks noGrp="1"/>
          </p:cNvGraphicFramePr>
          <p:nvPr>
            <p:extLst>
              <p:ext uri="{D42A27DB-BD31-4B8C-83A1-F6EECF244321}">
                <p14:modId xmlns:p14="http://schemas.microsoft.com/office/powerpoint/2010/main" val="3908062597"/>
              </p:ext>
            </p:extLst>
          </p:nvPr>
        </p:nvGraphicFramePr>
        <p:xfrm>
          <a:off x="881380" y="2506587"/>
          <a:ext cx="10485519" cy="4118367"/>
        </p:xfrm>
        <a:graphic>
          <a:graphicData uri="http://schemas.openxmlformats.org/drawingml/2006/table">
            <a:tbl>
              <a:tblPr firstRow="1" firstCol="1" bandRow="1">
                <a:tableStyleId>{2D5ABB26-0587-4C30-8999-92F81FD0307C}</a:tableStyleId>
              </a:tblPr>
              <a:tblGrid>
                <a:gridCol w="379487">
                  <a:extLst>
                    <a:ext uri="{9D8B030D-6E8A-4147-A177-3AD203B41FA5}">
                      <a16:colId xmlns:a16="http://schemas.microsoft.com/office/drawing/2014/main" val="3618041642"/>
                    </a:ext>
                  </a:extLst>
                </a:gridCol>
                <a:gridCol w="1211126">
                  <a:extLst>
                    <a:ext uri="{9D8B030D-6E8A-4147-A177-3AD203B41FA5}">
                      <a16:colId xmlns:a16="http://schemas.microsoft.com/office/drawing/2014/main" val="3648668793"/>
                    </a:ext>
                  </a:extLst>
                </a:gridCol>
                <a:gridCol w="1370965">
                  <a:extLst>
                    <a:ext uri="{9D8B030D-6E8A-4147-A177-3AD203B41FA5}">
                      <a16:colId xmlns:a16="http://schemas.microsoft.com/office/drawing/2014/main" val="3534710742"/>
                    </a:ext>
                  </a:extLst>
                </a:gridCol>
                <a:gridCol w="733037">
                  <a:extLst>
                    <a:ext uri="{9D8B030D-6E8A-4147-A177-3AD203B41FA5}">
                      <a16:colId xmlns:a16="http://schemas.microsoft.com/office/drawing/2014/main" val="3654817324"/>
                    </a:ext>
                  </a:extLst>
                </a:gridCol>
                <a:gridCol w="731408">
                  <a:extLst>
                    <a:ext uri="{9D8B030D-6E8A-4147-A177-3AD203B41FA5}">
                      <a16:colId xmlns:a16="http://schemas.microsoft.com/office/drawing/2014/main" val="3213442378"/>
                    </a:ext>
                  </a:extLst>
                </a:gridCol>
                <a:gridCol w="2269881">
                  <a:extLst>
                    <a:ext uri="{9D8B030D-6E8A-4147-A177-3AD203B41FA5}">
                      <a16:colId xmlns:a16="http://schemas.microsoft.com/office/drawing/2014/main" val="3405916441"/>
                    </a:ext>
                  </a:extLst>
                </a:gridCol>
                <a:gridCol w="1685296">
                  <a:extLst>
                    <a:ext uri="{9D8B030D-6E8A-4147-A177-3AD203B41FA5}">
                      <a16:colId xmlns:a16="http://schemas.microsoft.com/office/drawing/2014/main" val="1343028860"/>
                    </a:ext>
                  </a:extLst>
                </a:gridCol>
                <a:gridCol w="433329">
                  <a:extLst>
                    <a:ext uri="{9D8B030D-6E8A-4147-A177-3AD203B41FA5}">
                      <a16:colId xmlns:a16="http://schemas.microsoft.com/office/drawing/2014/main" val="3275988831"/>
                    </a:ext>
                  </a:extLst>
                </a:gridCol>
                <a:gridCol w="1670990">
                  <a:extLst>
                    <a:ext uri="{9D8B030D-6E8A-4147-A177-3AD203B41FA5}">
                      <a16:colId xmlns:a16="http://schemas.microsoft.com/office/drawing/2014/main" val="3708906679"/>
                    </a:ext>
                  </a:extLst>
                </a:gridCol>
              </a:tblGrid>
              <a:tr h="190289">
                <a:tc>
                  <a:txBody>
                    <a:bodyPr/>
                    <a:lstStyle/>
                    <a:p>
                      <a:pPr algn="ctr">
                        <a:lnSpc>
                          <a:spcPct val="100000"/>
                        </a:lnSpc>
                        <a:spcAft>
                          <a:spcPts val="800"/>
                        </a:spcAft>
                      </a:pPr>
                      <a:r>
                        <a:rPr lang="en-IN" sz="1000" kern="0">
                          <a:effectLst/>
                          <a:highlight>
                            <a:srgbClr val="FFFFFF"/>
                          </a:highlight>
                        </a:rPr>
                        <a:t>Sr No</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Action</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Inputs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dirty="0">
                          <a:effectLst/>
                          <a:highlight>
                            <a:srgbClr val="FFFFFF"/>
                          </a:highlight>
                        </a:rPr>
                        <a:t>Test Case ID</a:t>
                      </a:r>
                      <a:endParaRPr lang="en-IN" sz="9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Test Priority</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Expected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IN" sz="1000" kern="0">
                          <a:effectLst/>
                          <a:highlight>
                            <a:srgbClr val="FFFFFF"/>
                          </a:highlight>
                        </a:rPr>
                        <a:t>Actual Output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Result</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0000"/>
                        </a:lnSpc>
                        <a:spcAft>
                          <a:spcPts val="800"/>
                        </a:spcAft>
                      </a:pPr>
                      <a:r>
                        <a:rPr lang="en-IN" sz="1000" kern="0">
                          <a:effectLst/>
                          <a:highlight>
                            <a:srgbClr val="FFFFFF"/>
                          </a:highlight>
                        </a:rPr>
                        <a:t>Comments</a:t>
                      </a:r>
                      <a:endParaRPr lang="en-IN" sz="9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0098" marR="300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236509"/>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Setup</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and dependencies are properly configured.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configured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Dependencies set up correctly.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82796"/>
                  </a:ext>
                </a:extLst>
              </a:tr>
              <a:tr h="519723">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2</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Input Video Selection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road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 suitable sample road video is selected for testing.</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Sample video selection completed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04517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3</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Execution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Selected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 detection modules are executed with the sample video as input.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and signals detected successfully.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detected with accuracy.</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4451308"/>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4</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Validation of Output</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are accurately marked or highlighted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marked correctly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Zebra crossings and signals highlighted precisely in the video.</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5816414"/>
                  </a:ext>
                </a:extLst>
              </a:tr>
              <a:tr h="624995">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5</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and signals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match the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Assertion successful.</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Detected zebra crossings and signals aligned with ground truth locations.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8753744"/>
                  </a:ext>
                </a:extLst>
              </a:tr>
              <a:tr h="695840">
                <a:tc>
                  <a:txBody>
                    <a:bodyPr/>
                    <a:lstStyle/>
                    <a:p>
                      <a:pPr algn="ct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6</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Feedback</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Discrepancies/issues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ZSD-1</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High</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Any discrepancies or issues observed during testing are documented.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discrepancies found.</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Pass</a:t>
                      </a:r>
                      <a:endParaRPr lang="en-IN" sz="1100" kern="10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IN" sz="1200" kern="0" dirty="0">
                          <a:solidFill>
                            <a:srgbClr val="0D0D0D"/>
                          </a:solidFill>
                          <a:effectLst/>
                          <a:highlight>
                            <a:srgbClr val="FFFFFF"/>
                          </a:highlight>
                          <a:latin typeface="Times New Roman" panose="02020603050405020304" pitchFamily="18" charset="0"/>
                          <a:ea typeface="Times New Roman" panose="02020603050405020304" pitchFamily="18" charset="0"/>
                          <a:cs typeface="Mangal" panose="02040503050203030202" pitchFamily="18" charset="0"/>
                        </a:rPr>
                        <a:t>No issues or discrepancies identified during testing.</a:t>
                      </a:r>
                      <a:endParaRPr lang="en-IN" sz="1100" kern="100" dirty="0">
                        <a:effectLst/>
                        <a:highlight>
                          <a:srgbClr val="FFFFFF"/>
                        </a:highlight>
                        <a:latin typeface="Calibri" panose="020F0502020204030204" pitchFamily="34" charset="0"/>
                        <a:ea typeface="Calibri" panose="020F0502020204030204" pitchFamily="34" charset="0"/>
                        <a:cs typeface="Mangal" panose="02040503050203030202"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358072"/>
                  </a:ext>
                </a:extLst>
              </a:tr>
            </a:tbl>
          </a:graphicData>
        </a:graphic>
      </p:graphicFrame>
    </p:spTree>
    <p:extLst>
      <p:ext uri="{BB962C8B-B14F-4D97-AF65-F5344CB8AC3E}">
        <p14:creationId xmlns:p14="http://schemas.microsoft.com/office/powerpoint/2010/main" val="3024718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Challenges</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endParaRPr lang="en-US" sz="2200" dirty="0">
              <a:latin typeface="Arial" panose="020B0604020202020204" pitchFamily="34" charset="0"/>
              <a:cs typeface="Arial" panose="020B0604020202020204" pitchFamily="34" charset="0"/>
            </a:endParaRPr>
          </a:p>
          <a:p>
            <a:pPr>
              <a:spcBef>
                <a:spcPts val="600"/>
              </a:spcBef>
              <a:spcAft>
                <a:spcPts val="600"/>
              </a:spcAft>
            </a:pPr>
            <a:r>
              <a:rPr lang="en-US" sz="2200" dirty="0">
                <a:latin typeface="Arial" panose="020B0604020202020204" pitchFamily="34" charset="0"/>
                <a:cs typeface="Arial" panose="020B0604020202020204" pitchFamily="34" charset="0"/>
              </a:rPr>
              <a:t>The Enhanced Road Detection System project faced difficulties since actual equipment was unavailable and computational power was constrained. It would have been easier to validate the system's dependability and performance if there had been real road infrastructure. The complexity and scale of the implemented algorithms were also limited by the limited processing capacity, requiring careful optimization to guarantee efficiency within hardware limitations.</a:t>
            </a:r>
          </a:p>
          <a:p>
            <a:pPr>
              <a:spcBef>
                <a:spcPts val="600"/>
              </a:spcBef>
              <a:spcAft>
                <a:spcPts val="600"/>
              </a:spcAft>
            </a:pPr>
            <a:r>
              <a:rPr lang="en-US" sz="2200" dirty="0">
                <a:latin typeface="Arial" panose="020B0604020202020204" pitchFamily="34" charset="0"/>
                <a:cs typeface="Arial" panose="020B0604020202020204" pitchFamily="34" charset="0"/>
              </a:rPr>
              <a:t>Accumulating large enough and varied training datasets to train reliable machine learning models proved to be another major hurdle. The lack of sensor data and annotated road imagery made it difficult for the system to generalize successfully across various contexts and road conditions. In addition, obtaining extensive test datasets in a constrained amount of time created more time-bound requirements, requiring effective data collecting and validation techniques to fulfill project deadlines.</a:t>
            </a:r>
          </a:p>
        </p:txBody>
      </p:sp>
    </p:spTree>
    <p:extLst>
      <p:ext uri="{BB962C8B-B14F-4D97-AF65-F5344CB8AC3E}">
        <p14:creationId xmlns:p14="http://schemas.microsoft.com/office/powerpoint/2010/main" val="2784203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Limitation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Manual intervention is required to set up coordinates for lane line detection in each input video due to variations in camera setups. As the camera configuration may differ for each video, setting up the coordinates manually ensures accurate detection of lane lines.</a:t>
            </a:r>
          </a:p>
          <a:p>
            <a:pPr>
              <a:spcBef>
                <a:spcPts val="600"/>
              </a:spcBef>
              <a:spcAft>
                <a:spcPts val="600"/>
              </a:spcAft>
            </a:pPr>
            <a:r>
              <a:rPr lang="en-US" sz="2200" dirty="0">
                <a:latin typeface="Arial" panose="020B0604020202020204" pitchFamily="34" charset="0"/>
                <a:cs typeface="Arial" panose="020B0604020202020204" pitchFamily="34" charset="0"/>
              </a:rPr>
              <a:t>The detection capabilities for potholes, lane lines, zebra crossings, and traffic signals are constrained by the size and diversity of the training datasets. Currently, the datasets used for training are relatively small, which can result in reduced accuracy and generalization capabilities, particularly in varied road conditions.</a:t>
            </a:r>
          </a:p>
        </p:txBody>
      </p:sp>
    </p:spTree>
    <p:extLst>
      <p:ext uri="{BB962C8B-B14F-4D97-AF65-F5344CB8AC3E}">
        <p14:creationId xmlns:p14="http://schemas.microsoft.com/office/powerpoint/2010/main" val="801720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fontScale="85000" lnSpcReduction="10000"/>
          </a:bodyPr>
          <a:lstStyle/>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Advanced Detection Techniques: </a:t>
            </a:r>
            <a:r>
              <a:rPr lang="en-US" sz="2200" dirty="0">
                <a:latin typeface="Arial" panose="020B0604020202020204" pitchFamily="34" charset="0"/>
                <a:cs typeface="Arial" panose="020B0604020202020204" pitchFamily="34" charset="0"/>
              </a:rPr>
              <a:t>Explore and integrate advanced detection techniques such as 3D object detection to improve the accuracy and robustness of the detection systems.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Multi-Modal Sensing: </a:t>
            </a:r>
            <a:r>
              <a:rPr lang="en-US" sz="2200" dirty="0">
                <a:latin typeface="Arial" panose="020B0604020202020204" pitchFamily="34" charset="0"/>
                <a:cs typeface="Arial" panose="020B0604020202020204" pitchFamily="34" charset="0"/>
              </a:rPr>
              <a:t>Investigate the use of multi-modal sensing technologies, including LiDAR, radar, and infrared sensors, to complement visual-based detection systems and enhance their performance in challenging environmental conditions.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Dynamic Road Marking Detection: </a:t>
            </a:r>
            <a:r>
              <a:rPr lang="en-US" sz="2200" dirty="0">
                <a:latin typeface="Arial" panose="020B0604020202020204" pitchFamily="34" charset="0"/>
                <a:cs typeface="Arial" panose="020B0604020202020204" pitchFamily="34" charset="0"/>
              </a:rPr>
              <a:t>Develop algorithms capable of dynamically detecting and interpreting temporary road markings, construction zones, and lane diversions to provide timely alerts to drivers and improve road safety during construction activities.</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Predictive Analytics: </a:t>
            </a:r>
            <a:r>
              <a:rPr lang="en-US" sz="2200" dirty="0">
                <a:latin typeface="Arial" panose="020B0604020202020204" pitchFamily="34" charset="0"/>
                <a:cs typeface="Arial" panose="020B0604020202020204" pitchFamily="34" charset="0"/>
              </a:rPr>
              <a:t>Incorporate predictive analytics capabilities to forecast potential road hazards, traffic congestion, and infrastructure maintenance needs based on historical data and real-time observations, enabling proactive intervention and planning.</a:t>
            </a:r>
          </a:p>
          <a:p>
            <a:pPr>
              <a:lnSpc>
                <a:spcPct val="120000"/>
              </a:lnSpc>
              <a:spcBef>
                <a:spcPts val="600"/>
              </a:spcBef>
              <a:spcAft>
                <a:spcPts val="600"/>
              </a:spcAft>
            </a:pPr>
            <a:r>
              <a:rPr lang="en-US" sz="2200" b="1" dirty="0">
                <a:latin typeface="Arial" panose="020B0604020202020204" pitchFamily="34" charset="0"/>
                <a:cs typeface="Arial" panose="020B0604020202020204" pitchFamily="34" charset="0"/>
              </a:rPr>
              <a:t>Integration with Autonomous Vehicles: </a:t>
            </a:r>
            <a:r>
              <a:rPr lang="en-US" sz="2200" dirty="0">
                <a:latin typeface="Arial" panose="020B0604020202020204" pitchFamily="34" charset="0"/>
                <a:cs typeface="Arial" panose="020B0604020202020204" pitchFamily="34" charset="0"/>
              </a:rPr>
              <a:t>Explore opportunities to integrate the detection systems with autonomous vehicle platforms to enhance their perception capabilities and enable safer and more reliable autonomous driving in diverse road environments.</a:t>
            </a:r>
          </a:p>
        </p:txBody>
      </p:sp>
    </p:spTree>
    <p:extLst>
      <p:ext uri="{BB962C8B-B14F-4D97-AF65-F5344CB8AC3E}">
        <p14:creationId xmlns:p14="http://schemas.microsoft.com/office/powerpoint/2010/main" val="3597458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a:spcBef>
                <a:spcPts val="600"/>
              </a:spcBef>
              <a:spcAft>
                <a:spcPts val="600"/>
              </a:spcAft>
            </a:pPr>
            <a:r>
              <a:rPr lang="en-US" sz="2200" dirty="0">
                <a:latin typeface="Arial" panose="020B0604020202020204" pitchFamily="34" charset="0"/>
                <a:cs typeface="Arial" panose="020B0604020202020204" pitchFamily="34" charset="0"/>
              </a:rPr>
              <a:t>The development of the Enhanced Road Detection System signifies a significant leap forward in improving road safety and traffic management. By employing advanced computer vision algorithms and machine learning techniques, the project effectively tackles crucial challenges encountered on roads, including lane deviations, pothole hazards, pedestrian safety, and traffic regulation. Through subsystems like lane detection, pothole detection, and zebra crossing/traffic signal recognition, the project offers valuable insights and proactive measures to enhance overall road safety and efficiency.</a:t>
            </a:r>
          </a:p>
          <a:p>
            <a:pPr>
              <a:spcBef>
                <a:spcPts val="600"/>
              </a:spcBef>
              <a:spcAft>
                <a:spcPts val="600"/>
              </a:spcAft>
            </a:pPr>
            <a:r>
              <a:rPr lang="en-US" sz="2200" dirty="0">
                <a:latin typeface="Arial" panose="020B0604020202020204" pitchFamily="34" charset="0"/>
                <a:cs typeface="Arial" panose="020B0604020202020204" pitchFamily="34" charset="0"/>
              </a:rPr>
              <a:t>Integration of these subsystems into a cohesive project lays the groundwork for a comprehensive Enhanced Road Detection System capable of detecting and addressing various road hazards in real-time. The project's success underscores the feasibility and effectiveness of leveraging cutting-edge technologies like computer vision and machine learning to address critical issues in road safety and traffic management, promising safer and smoother journeys for all road users.</a:t>
            </a:r>
          </a:p>
        </p:txBody>
      </p:sp>
    </p:spTree>
    <p:extLst>
      <p:ext uri="{BB962C8B-B14F-4D97-AF65-F5344CB8AC3E}">
        <p14:creationId xmlns:p14="http://schemas.microsoft.com/office/powerpoint/2010/main" val="2702251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911D-8E8B-591C-E756-61AC974E518B}"/>
              </a:ext>
            </a:extLst>
          </p:cNvPr>
          <p:cNvSpPr>
            <a:spLocks noGrp="1"/>
          </p:cNvSpPr>
          <p:nvPr>
            <p:ph type="title"/>
          </p:nvPr>
        </p:nvSpPr>
        <p:spPr>
          <a:xfrm>
            <a:off x="838200" y="365125"/>
            <a:ext cx="10515600" cy="671823"/>
          </a:xfrm>
        </p:spPr>
        <p:txBody>
          <a:bodyPr>
            <a:normAutofit/>
          </a:bodyPr>
          <a:lstStyle/>
          <a:p>
            <a:r>
              <a:rPr lang="en-IN" sz="2800" b="1" dirty="0">
                <a:latin typeface="Arial" panose="020B0604020202020204" pitchFamily="34" charset="0"/>
                <a:cs typeface="Arial" panose="020B0604020202020204" pitchFamily="34" charset="0"/>
              </a:rPr>
              <a:t>Bibliography &amp; References </a:t>
            </a:r>
          </a:p>
        </p:txBody>
      </p:sp>
      <p:sp>
        <p:nvSpPr>
          <p:cNvPr id="3" name="Content Placeholder 2">
            <a:extLst>
              <a:ext uri="{FF2B5EF4-FFF2-40B4-BE49-F238E27FC236}">
                <a16:creationId xmlns:a16="http://schemas.microsoft.com/office/drawing/2014/main" id="{2DA3CA89-45A8-BB27-DDF2-6CACDFC6E9A1}"/>
              </a:ext>
            </a:extLst>
          </p:cNvPr>
          <p:cNvSpPr>
            <a:spLocks noGrp="1"/>
          </p:cNvSpPr>
          <p:nvPr>
            <p:ph idx="1"/>
          </p:nvPr>
        </p:nvSpPr>
        <p:spPr>
          <a:xfrm>
            <a:off x="838200" y="1263193"/>
            <a:ext cx="10515600" cy="5229682"/>
          </a:xfrm>
        </p:spPr>
        <p:txBody>
          <a:bodyPr>
            <a:normAutofit/>
          </a:bodyPr>
          <a:lstStyle/>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2"/>
              </a:rPr>
              <a:t>https://app.roboflow.com/potholesproject-afkvq/pothole_detection-lragw/settings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3"/>
              </a:rPr>
              <a:t>https://app.roboflow.com/shraddha-pansare-0hlpi/yolov8-ozdbl/settings</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4"/>
              </a:rPr>
              <a:t>https://docs.opencv.org/4.x/d6/d00/tutorial_py_root.html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5"/>
              </a:rPr>
              <a:t>https://numpy.org/doc/</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6"/>
              </a:rPr>
              <a:t>https://matplotlib.org/stable/api/image_api.html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7"/>
              </a:rPr>
              <a:t>https://ipython.readthedocs.io/en/stable/api/generated/IPython.display.html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8"/>
              </a:rPr>
              <a:t>https://pypi.org/project/moviepy/</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9"/>
              </a:rPr>
              <a:t>https://docs.opencv.org/4.x/dc/dbb/tutorial_py_calibration.html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0"/>
              </a:rPr>
              <a:t>https://docs.python.org/3/library/glob.html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0000"/>
              </a:lnSpc>
              <a:spcBef>
                <a:spcPts val="600"/>
              </a:spcBef>
              <a:spcAft>
                <a:spcPts val="600"/>
              </a:spcAft>
              <a:buFont typeface="Symbol" panose="05050102010706020507" pitchFamily="18" charset="2"/>
              <a:buChar char=""/>
            </a:pPr>
            <a:r>
              <a:rPr lang="en-IN" sz="1800" u="sng" kern="100" dirty="0">
                <a:solidFill>
                  <a:srgbClr val="0563C1"/>
                </a:solidFill>
                <a:effectLst/>
                <a:highlight>
                  <a:srgbClr val="FFFFFF"/>
                </a:highlight>
                <a:latin typeface="Arial" panose="020B0604020202020204" pitchFamily="34" charset="0"/>
                <a:ea typeface="Calibri" panose="020F0502020204030204" pitchFamily="34" charset="0"/>
                <a:cs typeface="Arial" panose="020B0604020202020204" pitchFamily="34" charset="0"/>
                <a:hlinkClick r:id="rId11"/>
              </a:rPr>
              <a:t>https://docs.python.org/3/library/tk.html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46980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132</TotalTime>
  <Words>3596</Words>
  <Application>Microsoft Office PowerPoint</Application>
  <PresentationFormat>Widescreen</PresentationFormat>
  <Paragraphs>357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Symbol</vt:lpstr>
      <vt:lpstr>Times New Roman</vt:lpstr>
      <vt:lpstr>Office Theme</vt:lpstr>
      <vt:lpstr>Enhanced Road Detection System</vt:lpstr>
      <vt:lpstr>Project Group Members</vt:lpstr>
      <vt:lpstr>Introduction</vt:lpstr>
      <vt:lpstr>Team Member’s Role</vt:lpstr>
      <vt:lpstr>Technology </vt:lpstr>
      <vt:lpstr>Project Learning</vt:lpstr>
      <vt:lpstr>Existing System</vt:lpstr>
      <vt:lpstr>Proposed System</vt:lpstr>
      <vt:lpstr>Requirements</vt:lpstr>
      <vt:lpstr>Requirements</vt:lpstr>
      <vt:lpstr>Requirements</vt:lpstr>
      <vt:lpstr>Modules – Lane Detection System</vt:lpstr>
      <vt:lpstr>Modules – Pothole Detection System</vt:lpstr>
      <vt:lpstr>Modules – Zebra Crossing and Traffic Signal Recognition System</vt:lpstr>
      <vt:lpstr>System Design - ERD And Normalization Diagram </vt:lpstr>
      <vt:lpstr>System Design - UML Diagram</vt:lpstr>
      <vt:lpstr>System Design - Use Case Diagram</vt:lpstr>
      <vt:lpstr>System Design - Sequence Diagram</vt:lpstr>
      <vt:lpstr>System Design - Activity  Diagram</vt:lpstr>
      <vt:lpstr>I/O Screens - User Interface</vt:lpstr>
      <vt:lpstr>I/O Screens - Lane Detection Output Interface</vt:lpstr>
      <vt:lpstr>I/O Screens - Pothole Detection Output Interface</vt:lpstr>
      <vt:lpstr>I/O Screens - Signal Detection Output Interface</vt:lpstr>
      <vt:lpstr>Test Cases - Lane Line Detection System</vt:lpstr>
      <vt:lpstr>Test Cases - Pothole Detection System</vt:lpstr>
      <vt:lpstr>Test Cases - Zebra and Signal Detection System</vt:lpstr>
      <vt:lpstr>Challenges</vt:lpstr>
      <vt:lpstr>Limitation</vt:lpstr>
      <vt:lpstr>Future Scope</vt:lpstr>
      <vt:lpstr>Conclusion</vt:lpstr>
      <vt:lpstr>Bibliography &amp;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Road Detection System</dc:title>
  <dc:creator>Amey Gaikwad</dc:creator>
  <cp:lastModifiedBy>Amey Gaikwad</cp:lastModifiedBy>
  <cp:revision>32</cp:revision>
  <dcterms:created xsi:type="dcterms:W3CDTF">2024-04-04T16:54:52Z</dcterms:created>
  <dcterms:modified xsi:type="dcterms:W3CDTF">2024-04-04T19:08:53Z</dcterms:modified>
</cp:coreProperties>
</file>